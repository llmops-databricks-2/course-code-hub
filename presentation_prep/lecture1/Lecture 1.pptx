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ogQocML42tt9PhADHGQuMqyPu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 name="Google Shape;2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 name="Google Shape;2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0" name="Google Shape;6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9" name="Google Shape;6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0" name="Google Shape;8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0" name="Google Shape;9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0" name="Google Shape;10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1" name="Google Shape;11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1" name="Google Shape;12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this is the architecture of LLM systems on Databricks. At the foundation, we have three hosting options for models. All of these go through Mosaic AI Model Serving, which provides a unified interface, governance through AI Gateway, and safety through AI Guardrails. This architecture means you can switch between different models and providers without changing your application code - a huge advantage for experimentation and production flexibility.</a:t>
            </a:r>
            <a:endParaRPr sz="1200">
              <a:solidFill>
                <a:schemeClr val="dk1"/>
              </a:solidFill>
              <a:latin typeface="Arial"/>
              <a:ea typeface="Arial"/>
              <a:cs typeface="Arial"/>
              <a:sym typeface="Arial"/>
            </a:endParaRPr>
          </a:p>
        </p:txBody>
      </p:sp>
      <p:sp>
        <p:nvSpPr>
          <p:cNvPr id="132" name="Google Shape;13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highlight>
                  <a:srgbClr val="F5F5F5"/>
                </a:highlight>
                <a:latin typeface="Calibri"/>
                <a:ea typeface="Calibri"/>
                <a:cs typeface="Calibri"/>
                <a:sym typeface="Calibri"/>
              </a:rPr>
              <a:t>All models - whether hosted by Databricks, deployed with provisioned throughput, or external - follow the OpenAI API specification. This means you can use the OpenAI Python SDK to interact with any model. You can experiment with different models just by changing the model name parameter. This consistency is invaluable when you're evaluating models, implementing fallback strategies, or migrating from development to production​</a:t>
            </a:r>
            <a:endParaRPr sz="1200">
              <a:solidFill>
                <a:schemeClr val="dk1"/>
              </a:solidFill>
              <a:latin typeface="Arial"/>
              <a:ea typeface="Arial"/>
              <a:cs typeface="Arial"/>
              <a:sym typeface="Arial"/>
            </a:endParaRPr>
          </a:p>
        </p:txBody>
      </p:sp>
      <p:sp>
        <p:nvSpPr>
          <p:cNvPr id="143" name="Google Shape;14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highlight>
                  <a:srgbClr val="F5F5F5"/>
                </a:highlight>
                <a:latin typeface="Calibri"/>
                <a:ea typeface="Calibri"/>
                <a:cs typeface="Calibri"/>
                <a:sym typeface="Calibri"/>
              </a:rPr>
              <a:t>AI Gateway sits between your application and the models, providing critical governance capabilities. First, usage tracking lets you monitor token consumption and costs - essential for managing budgets. Second, payload logging, also called inference tables, captures every request and response, which is invaluable for debugging, auditing, and even collecting data for fine-tuning. Third, traffic management gives you rate limiting and load balancing. Finally, AI Guardrails ensure safety by detecting and masking PII, filtering harmful content, and validating inputs and outputs. All of this works automatically for any model served through Databricks.​</a:t>
            </a:r>
            <a:endParaRPr sz="1200">
              <a:solidFill>
                <a:schemeClr val="dk1"/>
              </a:solidFill>
              <a:latin typeface="Arial"/>
              <a:ea typeface="Arial"/>
              <a:cs typeface="Arial"/>
              <a:sym typeface="Arial"/>
            </a:endParaRPr>
          </a:p>
        </p:txBody>
      </p:sp>
      <p:sp>
        <p:nvSpPr>
          <p:cNvPr id="165" name="Google Shape;16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highlight>
                  <a:srgbClr val="F5F5F5"/>
                </a:highlight>
                <a:latin typeface="Calibri"/>
                <a:ea typeface="Calibri"/>
                <a:cs typeface="Calibri"/>
                <a:sym typeface="Calibri"/>
              </a:rPr>
              <a:t>Databricks-hosted models are the easiest way to get started. They require zero infrastructure setup - you just start making API calls and pay for the tokens you use. They're perfect for experimentation, development, and even low-volume production use cases. However, they do have workspace-level rate limits on tokens per hour and queries per hour. If you hit these limits, you'll get a 429 error until the rate limit window resets. The available models depend on your cloud provider and region, so check the documentation for your specific environment.​</a:t>
            </a:r>
            <a:endParaRPr sz="1200">
              <a:solidFill>
                <a:schemeClr val="dk1"/>
              </a:solidFill>
              <a:latin typeface="Arial"/>
              <a:ea typeface="Arial"/>
              <a:cs typeface="Arial"/>
              <a:sym typeface="Arial"/>
            </a:endParaRPr>
          </a:p>
        </p:txBody>
      </p:sp>
      <p:sp>
        <p:nvSpPr>
          <p:cNvPr id="191" name="Google Shape;19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highlight>
                  <a:srgbClr val="F5F5F5"/>
                </a:highlight>
                <a:latin typeface="Calibri"/>
                <a:ea typeface="Calibri"/>
                <a:cs typeface="Calibri"/>
                <a:sym typeface="Calibri"/>
              </a:rPr>
              <a:t>provisioned throughput, which is what you'll use for production workloads. Unlike pay-per-token models with shared capacity, provisioned throughput gives you dedicated infrastructure with performance guarantees. Use it when you have high-volume workloads, need consistent latency, or want to deploy your own fine-tuned models. The key advantages are dedicated capacity, much higher limits than hosted APIs, and intelligent autoscaling that adjusts to your demand. You can even enable scale-to-zero to save costs during idle periods, though we don't recommend this for critical production systems​</a:t>
            </a:r>
            <a:endParaRPr sz="1200">
              <a:solidFill>
                <a:schemeClr val="dk1"/>
              </a:solidFill>
              <a:latin typeface="Arial"/>
              <a:ea typeface="Arial"/>
              <a:cs typeface="Arial"/>
              <a:sym typeface="Arial"/>
            </a:endParaRPr>
          </a:p>
        </p:txBody>
      </p:sp>
      <p:sp>
        <p:nvSpPr>
          <p:cNvPr id="216" name="Google Shape;21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highlight>
                  <a:srgbClr val="F5F5F5"/>
                </a:highlight>
                <a:latin typeface="Calibri"/>
                <a:ea typeface="Calibri"/>
                <a:cs typeface="Calibri"/>
                <a:sym typeface="Calibri"/>
              </a:rPr>
              <a:t>Provisioned throughput capacity is measured in tokens per second, not requests per second. Why? Because LLM requests vary dramatically in size. A short question might be 50 tokens, while a complex prompt with context could be 4000 tokens. Measuring in tokens per second gives you a consistent, predictable metric. For example, if your typical request is 2304 tokens total and you provision 2304 tokens per second, you can process one such request per second. Double the capacity, and you can process two per second. Some models use 'model units' as an abstraction ​</a:t>
            </a:r>
            <a:endParaRPr sz="1200">
              <a:solidFill>
                <a:schemeClr val="dk1"/>
              </a:solidFill>
              <a:latin typeface="Arial"/>
              <a:ea typeface="Arial"/>
              <a:cs typeface="Arial"/>
              <a:sym typeface="Arial"/>
            </a:endParaRPr>
          </a:p>
        </p:txBody>
      </p:sp>
      <p:sp>
        <p:nvSpPr>
          <p:cNvPr id="238" name="Google Shape;23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444444"/>
                </a:solidFill>
                <a:highlight>
                  <a:srgbClr val="F5F5F5"/>
                </a:highlight>
                <a:latin typeface="Calibri"/>
                <a:ea typeface="Calibri"/>
                <a:cs typeface="Calibri"/>
                <a:sym typeface="Calibri"/>
              </a:rPr>
              <a:t> ​</a:t>
            </a:r>
            <a:endParaRPr sz="1200">
              <a:solidFill>
                <a:srgbClr val="444444"/>
              </a:solidFill>
              <a:highlight>
                <a:srgbClr val="F5F5F5"/>
              </a:highlight>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rgbClr val="444444"/>
                </a:solidFill>
                <a:highlight>
                  <a:srgbClr val="F5F5F5"/>
                </a:highlight>
                <a:latin typeface="Calibri"/>
                <a:ea typeface="Calibri"/>
                <a:cs typeface="Calibri"/>
                <a:sym typeface="Calibri"/>
              </a:rPr>
              <a:t>External models are hosted outside Databricks but can be accessed through Mosaic AI Model Serving. You might wonder why you'd route through Databricks instead of calling these providers directly. The answer is governance and consistency. By creating a serving endpoint that proxies to an external model, you get all the benefits of AI Gateway - usage tracking, payload logging, guardrails, and a unified interface. You can switch from OpenAI to Anthropic just by changing the endpoint configuration, without touching your application code. Some providers may require firewall configuration, particularly on AWS. The custom provider option is particularly useful for accessing advanced features that aren't yet supported by the out-of-the-box integrations, like OpenAI's image output capabilities​</a:t>
            </a:r>
            <a:endParaRPr sz="1200">
              <a:solidFill>
                <a:srgbClr val="444444"/>
              </a:solidFill>
              <a:highlight>
                <a:srgbClr val="F5F5F5"/>
              </a:highlight>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endParaRPr>
          </a:p>
        </p:txBody>
      </p:sp>
      <p:sp>
        <p:nvSpPr>
          <p:cNvPr id="263" name="Google Shape;263;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highlight>
                  <a:srgbClr val="F5F5F5"/>
                </a:highlight>
                <a:latin typeface="Calibri"/>
                <a:ea typeface="Calibri"/>
                <a:cs typeface="Calibri"/>
                <a:sym typeface="Calibri"/>
              </a:rPr>
              <a:t>Databricks offers three ways to work with foundation models. First, Databricks-hosted models are perfect for getting started - they're available immediately with no configuration, but they have workspace-level rate limits. Second, provisioned throughput is what you'll use in production - it gives you dedicated capacity with performance guarantees and autoscaling. Third, external models let you connect to providers like OpenAI or Anthropic while still getting the benefits of Databricks governance. The key insight here is that all three options use the same API interface, so you can start with hosted models and move to provisioned throughput without changing your code.​</a:t>
            </a:r>
            <a:endParaRPr sz="1200">
              <a:solidFill>
                <a:schemeClr val="dk1"/>
              </a:solidFill>
              <a:latin typeface="Arial"/>
              <a:ea typeface="Arial"/>
              <a:cs typeface="Arial"/>
              <a:sym typeface="Arial"/>
            </a:endParaRPr>
          </a:p>
        </p:txBody>
      </p:sp>
      <p:sp>
        <p:nvSpPr>
          <p:cNvPr id="288" name="Google Shape;28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9" name="Google Shape;29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0" name="Google Shape;310;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0" name="Google Shape;320;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31" name="Google Shape;331;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42" name="Google Shape;342;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docs.databricks.com/aws/en/release-notes/serverless/environment-vers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docs.databricks.com/aws/en/ai-gateway/overview-serving-endpoin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hyperlink" Target="https://docs.databricks.com/aws/en/ai-gateway/overview-serving-endpoints#define-guardrail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EB"/>
        </a:solidFill>
      </p:bgPr>
    </p:bg>
    <p:spTree>
      <p:nvGrpSpPr>
        <p:cNvPr id="11" name="Shape 11"/>
        <p:cNvGrpSpPr/>
        <p:nvPr/>
      </p:nvGrpSpPr>
      <p:grpSpPr>
        <a:xfrm>
          <a:off x="0" y="0"/>
          <a:ext cx="0" cy="0"/>
          <a:chOff x="0" y="0"/>
          <a:chExt cx="0" cy="0"/>
        </a:xfrm>
      </p:grpSpPr>
      <p:sp>
        <p:nvSpPr>
          <p:cNvPr id="12" name="Google Shape;12;p1"/>
          <p:cNvSpPr/>
          <p:nvPr/>
        </p:nvSpPr>
        <p:spPr>
          <a:xfrm>
            <a:off x="365760" y="365760"/>
            <a:ext cx="8412480" cy="4411980"/>
          </a:xfrm>
          <a:prstGeom prst="roundRect">
            <a:avLst>
              <a:gd fmla="val 3109" name="adj"/>
            </a:avLst>
          </a:prstGeom>
          <a:solidFill>
            <a:srgbClr val="FFFFFF"/>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822960" y="10972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1200"/>
              <a:buFont typeface="Calibri"/>
              <a:buNone/>
            </a:pPr>
            <a:r>
              <a:rPr b="1" lang="en-US" sz="1200">
                <a:solidFill>
                  <a:srgbClr val="F24B37"/>
                </a:solidFill>
                <a:latin typeface="Calibri"/>
                <a:ea typeface="Calibri"/>
                <a:cs typeface="Calibri"/>
                <a:sym typeface="Calibri"/>
              </a:rPr>
              <a:t>LECTURE 1</a:t>
            </a:r>
            <a:endParaRPr sz="1200">
              <a:solidFill>
                <a:schemeClr val="dk1"/>
              </a:solidFill>
              <a:latin typeface="Calibri"/>
              <a:ea typeface="Calibri"/>
              <a:cs typeface="Calibri"/>
              <a:sym typeface="Calibri"/>
            </a:endParaRPr>
          </a:p>
        </p:txBody>
      </p:sp>
      <p:sp>
        <p:nvSpPr>
          <p:cNvPr id="14" name="Google Shape;14;p1"/>
          <p:cNvSpPr/>
          <p:nvPr/>
        </p:nvSpPr>
        <p:spPr>
          <a:xfrm>
            <a:off x="822960" y="1508760"/>
            <a:ext cx="6400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3200"/>
              <a:buFont typeface="Arial"/>
              <a:buNone/>
            </a:pPr>
            <a:r>
              <a:rPr b="1" lang="en-US" sz="3200">
                <a:solidFill>
                  <a:srgbClr val="333333"/>
                </a:solidFill>
                <a:latin typeface="Arial"/>
                <a:ea typeface="Arial"/>
                <a:cs typeface="Arial"/>
                <a:sym typeface="Arial"/>
              </a:rPr>
              <a:t>Developing LLM Applications</a:t>
            </a:r>
            <a:endParaRPr sz="3200">
              <a:solidFill>
                <a:schemeClr val="dk1"/>
              </a:solidFill>
              <a:latin typeface="Arial"/>
              <a:ea typeface="Arial"/>
              <a:cs typeface="Arial"/>
              <a:sym typeface="Arial"/>
            </a:endParaRPr>
          </a:p>
          <a:p>
            <a:pPr indent="0" lvl="0" marL="0" marR="0" rtl="0" algn="l">
              <a:spcBef>
                <a:spcPts val="0"/>
              </a:spcBef>
              <a:spcAft>
                <a:spcPts val="0"/>
              </a:spcAft>
              <a:buClr>
                <a:srgbClr val="333333"/>
              </a:buClr>
              <a:buSzPts val="3200"/>
              <a:buFont typeface="Arial"/>
              <a:buNone/>
            </a:pPr>
            <a:r>
              <a:rPr b="1" lang="en-US" sz="3200">
                <a:solidFill>
                  <a:srgbClr val="333333"/>
                </a:solidFill>
                <a:latin typeface="Arial"/>
                <a:ea typeface="Arial"/>
                <a:cs typeface="Arial"/>
                <a:sym typeface="Arial"/>
              </a:rPr>
              <a:t>on Databricks</a:t>
            </a:r>
            <a:endParaRPr sz="3200">
              <a:solidFill>
                <a:schemeClr val="dk1"/>
              </a:solidFill>
              <a:latin typeface="Arial"/>
              <a:ea typeface="Arial"/>
              <a:cs typeface="Arial"/>
              <a:sym typeface="Arial"/>
            </a:endParaRPr>
          </a:p>
        </p:txBody>
      </p:sp>
      <p:sp>
        <p:nvSpPr>
          <p:cNvPr id="15" name="Google Shape;15;p1"/>
          <p:cNvSpPr/>
          <p:nvPr/>
        </p:nvSpPr>
        <p:spPr>
          <a:xfrm>
            <a:off x="822960" y="301752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200"/>
              <a:buFont typeface="Calibri"/>
              <a:buNone/>
            </a:pPr>
            <a:r>
              <a:rPr lang="en-US" sz="1200">
                <a:solidFill>
                  <a:srgbClr val="999999"/>
                </a:solidFill>
                <a:latin typeface="Calibri"/>
                <a:ea typeface="Calibri"/>
                <a:cs typeface="Calibri"/>
                <a:sym typeface="Calibri"/>
              </a:rPr>
              <a:t>11 March 2026</a:t>
            </a:r>
            <a:endParaRPr sz="1200">
              <a:solidFill>
                <a:schemeClr val="dk1"/>
              </a:solidFill>
              <a:latin typeface="Calibri"/>
              <a:ea typeface="Calibri"/>
              <a:cs typeface="Calibri"/>
              <a:sym typeface="Calibri"/>
            </a:endParaRPr>
          </a:p>
        </p:txBody>
      </p:sp>
      <p:sp>
        <p:nvSpPr>
          <p:cNvPr id="16" name="Google Shape;16;p1"/>
          <p:cNvSpPr/>
          <p:nvPr/>
        </p:nvSpPr>
        <p:spPr>
          <a:xfrm>
            <a:off x="822960" y="329184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200"/>
              <a:buFont typeface="Calibri"/>
              <a:buNone/>
            </a:pPr>
            <a:r>
              <a:rPr lang="en-US" sz="1200">
                <a:solidFill>
                  <a:srgbClr val="999999"/>
                </a:solidFill>
                <a:latin typeface="Calibri"/>
                <a:ea typeface="Calibri"/>
                <a:cs typeface="Calibri"/>
                <a:sym typeface="Calibri"/>
              </a:rPr>
              <a:t>16:00–18:00 CET</a:t>
            </a:r>
            <a:endParaRPr sz="1200">
              <a:solidFill>
                <a:schemeClr val="dk1"/>
              </a:solidFill>
              <a:latin typeface="Calibri"/>
              <a:ea typeface="Calibri"/>
              <a:cs typeface="Calibri"/>
              <a:sym typeface="Calibri"/>
            </a:endParaRPr>
          </a:p>
        </p:txBody>
      </p:sp>
      <p:sp>
        <p:nvSpPr>
          <p:cNvPr id="17" name="Google Shape;17;p1"/>
          <p:cNvSpPr/>
          <p:nvPr/>
        </p:nvSpPr>
        <p:spPr>
          <a:xfrm>
            <a:off x="822960" y="3794760"/>
            <a:ext cx="45720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1"/>
          <p:cNvSpPr/>
          <p:nvPr/>
        </p:nvSpPr>
        <p:spPr>
          <a:xfrm>
            <a:off x="792480" y="4184582"/>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pic>
        <p:nvPicPr>
          <p:cNvPr descr="/sessions/nifty-pensive-fermi/kickoff_unpacked/ppt/media/image1.png" id="24" name="Google Shape;24;p2"/>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25" name="Google Shape;25;p2"/>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2"/>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Agenda</a:t>
            </a:r>
            <a:endParaRPr sz="2000">
              <a:solidFill>
                <a:schemeClr val="dk1"/>
              </a:solidFill>
              <a:latin typeface="Arial"/>
              <a:ea typeface="Arial"/>
              <a:cs typeface="Arial"/>
              <a:sym typeface="Arial"/>
            </a:endParaRPr>
          </a:p>
        </p:txBody>
      </p:sp>
      <p:sp>
        <p:nvSpPr>
          <p:cNvPr id="27" name="Google Shape;27;p2"/>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What we will cover today</a:t>
            </a:r>
            <a:endParaRPr sz="1300">
              <a:solidFill>
                <a:schemeClr val="dk1"/>
              </a:solidFill>
              <a:latin typeface="Calibri"/>
              <a:ea typeface="Calibri"/>
              <a:cs typeface="Calibri"/>
              <a:sym typeface="Calibri"/>
            </a:endParaRPr>
          </a:p>
        </p:txBody>
      </p:sp>
      <p:sp>
        <p:nvSpPr>
          <p:cNvPr id="28" name="Google Shape;28;p2"/>
          <p:cNvSpPr/>
          <p:nvPr/>
        </p:nvSpPr>
        <p:spPr>
          <a:xfrm>
            <a:off x="4572000" y="1714500"/>
            <a:ext cx="3977640" cy="6858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2"/>
          <p:cNvSpPr/>
          <p:nvPr/>
        </p:nvSpPr>
        <p:spPr>
          <a:xfrm>
            <a:off x="4572000" y="1714500"/>
            <a:ext cx="45720" cy="68580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2"/>
          <p:cNvSpPr/>
          <p:nvPr/>
        </p:nvSpPr>
        <p:spPr>
          <a:xfrm>
            <a:off x="4754880" y="1824228"/>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Georgia"/>
              <a:buNone/>
            </a:pPr>
            <a:r>
              <a:rPr b="1" lang="en-US" sz="1400">
                <a:solidFill>
                  <a:srgbClr val="333333"/>
                </a:solidFill>
                <a:latin typeface="Georgia"/>
                <a:ea typeface="Georgia"/>
                <a:cs typeface="Georgia"/>
                <a:sym typeface="Georgia"/>
              </a:rPr>
              <a:t>Foundation Models</a:t>
            </a:r>
            <a:endParaRPr sz="1400">
              <a:solidFill>
                <a:schemeClr val="dk1"/>
              </a:solidFill>
              <a:latin typeface="Calibri"/>
              <a:ea typeface="Calibri"/>
              <a:cs typeface="Calibri"/>
              <a:sym typeface="Calibri"/>
            </a:endParaRPr>
          </a:p>
        </p:txBody>
      </p:sp>
      <p:sp>
        <p:nvSpPr>
          <p:cNvPr id="31" name="Google Shape;31;p2"/>
          <p:cNvSpPr/>
          <p:nvPr/>
        </p:nvSpPr>
        <p:spPr>
          <a:xfrm>
            <a:off x="4754880" y="2125980"/>
            <a:ext cx="361188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Calibri"/>
              <a:buNone/>
            </a:pPr>
            <a:r>
              <a:rPr lang="en-US" sz="1100">
                <a:solidFill>
                  <a:srgbClr val="555555"/>
                </a:solidFill>
                <a:latin typeface="Calibri"/>
                <a:ea typeface="Calibri"/>
                <a:cs typeface="Calibri"/>
                <a:sym typeface="Calibri"/>
              </a:rPr>
              <a:t>Overview of Databricks Foundation Models and hosting options</a:t>
            </a:r>
            <a:endParaRPr sz="1100">
              <a:solidFill>
                <a:schemeClr val="dk1"/>
              </a:solidFill>
              <a:latin typeface="Calibri"/>
              <a:ea typeface="Calibri"/>
              <a:cs typeface="Calibri"/>
              <a:sym typeface="Calibri"/>
            </a:endParaRPr>
          </a:p>
        </p:txBody>
      </p:sp>
      <p:sp>
        <p:nvSpPr>
          <p:cNvPr id="32" name="Google Shape;32;p2"/>
          <p:cNvSpPr/>
          <p:nvPr/>
        </p:nvSpPr>
        <p:spPr>
          <a:xfrm>
            <a:off x="457200" y="1371600"/>
            <a:ext cx="3977640" cy="6858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2"/>
          <p:cNvSpPr/>
          <p:nvPr/>
        </p:nvSpPr>
        <p:spPr>
          <a:xfrm>
            <a:off x="457200" y="1371600"/>
            <a:ext cx="45720" cy="68580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2"/>
          <p:cNvSpPr/>
          <p:nvPr/>
        </p:nvSpPr>
        <p:spPr>
          <a:xfrm>
            <a:off x="640080" y="1481328"/>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Georgia"/>
              <a:buNone/>
            </a:pPr>
            <a:r>
              <a:rPr b="1" lang="en-US" sz="1400">
                <a:solidFill>
                  <a:srgbClr val="333333"/>
                </a:solidFill>
                <a:latin typeface="Georgia"/>
                <a:ea typeface="Georgia"/>
                <a:cs typeface="Georgia"/>
                <a:sym typeface="Georgia"/>
              </a:rPr>
              <a:t>Development Options</a:t>
            </a:r>
            <a:endParaRPr sz="1400">
              <a:solidFill>
                <a:schemeClr val="dk1"/>
              </a:solidFill>
              <a:latin typeface="Calibri"/>
              <a:ea typeface="Calibri"/>
              <a:cs typeface="Calibri"/>
              <a:sym typeface="Calibri"/>
            </a:endParaRPr>
          </a:p>
        </p:txBody>
      </p:sp>
      <p:sp>
        <p:nvSpPr>
          <p:cNvPr id="35" name="Google Shape;35;p2"/>
          <p:cNvSpPr/>
          <p:nvPr/>
        </p:nvSpPr>
        <p:spPr>
          <a:xfrm>
            <a:off x="640080" y="1783080"/>
            <a:ext cx="361188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Calibri"/>
              <a:buNone/>
            </a:pPr>
            <a:r>
              <a:rPr lang="en-US" sz="1100">
                <a:solidFill>
                  <a:srgbClr val="555555"/>
                </a:solidFill>
                <a:latin typeface="Calibri"/>
                <a:ea typeface="Calibri"/>
                <a:cs typeface="Calibri"/>
                <a:sym typeface="Calibri"/>
              </a:rPr>
              <a:t>Developing on Databricks: tools and serverless environments</a:t>
            </a:r>
            <a:endParaRPr sz="1100">
              <a:solidFill>
                <a:schemeClr val="dk1"/>
              </a:solidFill>
              <a:latin typeface="Calibri"/>
              <a:ea typeface="Calibri"/>
              <a:cs typeface="Calibri"/>
              <a:sym typeface="Calibri"/>
            </a:endParaRPr>
          </a:p>
        </p:txBody>
      </p:sp>
      <p:sp>
        <p:nvSpPr>
          <p:cNvPr id="36" name="Google Shape;36;p2"/>
          <p:cNvSpPr/>
          <p:nvPr/>
        </p:nvSpPr>
        <p:spPr>
          <a:xfrm>
            <a:off x="4572000" y="2537460"/>
            <a:ext cx="3977640" cy="6858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2"/>
          <p:cNvSpPr/>
          <p:nvPr/>
        </p:nvSpPr>
        <p:spPr>
          <a:xfrm>
            <a:off x="4572000" y="2537460"/>
            <a:ext cx="45720" cy="68580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2"/>
          <p:cNvSpPr/>
          <p:nvPr/>
        </p:nvSpPr>
        <p:spPr>
          <a:xfrm>
            <a:off x="4754880" y="2647188"/>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Georgia"/>
              <a:buNone/>
            </a:pPr>
            <a:r>
              <a:rPr b="1" lang="en-US" sz="1400">
                <a:solidFill>
                  <a:srgbClr val="333333"/>
                </a:solidFill>
                <a:latin typeface="Georgia"/>
                <a:ea typeface="Georgia"/>
                <a:cs typeface="Georgia"/>
                <a:sym typeface="Georgia"/>
              </a:rPr>
              <a:t>Provisioned Throughput</a:t>
            </a:r>
            <a:endParaRPr sz="1400">
              <a:solidFill>
                <a:schemeClr val="dk1"/>
              </a:solidFill>
              <a:latin typeface="Calibri"/>
              <a:ea typeface="Calibri"/>
              <a:cs typeface="Calibri"/>
              <a:sym typeface="Calibri"/>
            </a:endParaRPr>
          </a:p>
        </p:txBody>
      </p:sp>
      <p:sp>
        <p:nvSpPr>
          <p:cNvPr id="39" name="Google Shape;39;p2"/>
          <p:cNvSpPr/>
          <p:nvPr/>
        </p:nvSpPr>
        <p:spPr>
          <a:xfrm>
            <a:off x="4754880" y="2948940"/>
            <a:ext cx="361188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Calibri"/>
              <a:buNone/>
            </a:pPr>
            <a:r>
              <a:rPr lang="en-US" sz="1100">
                <a:solidFill>
                  <a:srgbClr val="555555"/>
                </a:solidFill>
                <a:latin typeface="Calibri"/>
                <a:ea typeface="Calibri"/>
                <a:cs typeface="Calibri"/>
                <a:sym typeface="Calibri"/>
              </a:rPr>
              <a:t>Deploy models with dedicated capacity</a:t>
            </a:r>
            <a:endParaRPr sz="1100">
              <a:solidFill>
                <a:schemeClr val="dk1"/>
              </a:solidFill>
              <a:latin typeface="Calibri"/>
              <a:ea typeface="Calibri"/>
              <a:cs typeface="Calibri"/>
              <a:sym typeface="Calibri"/>
            </a:endParaRPr>
          </a:p>
        </p:txBody>
      </p:sp>
      <p:sp>
        <p:nvSpPr>
          <p:cNvPr id="40" name="Google Shape;40;p2"/>
          <p:cNvSpPr/>
          <p:nvPr/>
        </p:nvSpPr>
        <p:spPr>
          <a:xfrm>
            <a:off x="457200" y="2194560"/>
            <a:ext cx="3977640" cy="6858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2"/>
          <p:cNvSpPr/>
          <p:nvPr/>
        </p:nvSpPr>
        <p:spPr>
          <a:xfrm>
            <a:off x="457200" y="2194560"/>
            <a:ext cx="45720" cy="68580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2"/>
          <p:cNvSpPr/>
          <p:nvPr/>
        </p:nvSpPr>
        <p:spPr>
          <a:xfrm>
            <a:off x="640080" y="2304288"/>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Georgia"/>
              <a:buNone/>
            </a:pPr>
            <a:r>
              <a:rPr b="1" lang="en-US" sz="1400">
                <a:solidFill>
                  <a:srgbClr val="333333"/>
                </a:solidFill>
                <a:latin typeface="Georgia"/>
                <a:ea typeface="Georgia"/>
                <a:cs typeface="Georgia"/>
                <a:sym typeface="Georgia"/>
              </a:rPr>
              <a:t>Project Overview</a:t>
            </a:r>
            <a:endParaRPr sz="1400">
              <a:solidFill>
                <a:schemeClr val="dk1"/>
              </a:solidFill>
              <a:latin typeface="Calibri"/>
              <a:ea typeface="Calibri"/>
              <a:cs typeface="Calibri"/>
              <a:sym typeface="Calibri"/>
            </a:endParaRPr>
          </a:p>
        </p:txBody>
      </p:sp>
      <p:sp>
        <p:nvSpPr>
          <p:cNvPr id="43" name="Google Shape;43;p2"/>
          <p:cNvSpPr/>
          <p:nvPr/>
        </p:nvSpPr>
        <p:spPr>
          <a:xfrm>
            <a:off x="640080" y="2606040"/>
            <a:ext cx="361188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Calibri"/>
              <a:buNone/>
            </a:pPr>
            <a:r>
              <a:rPr lang="en-US" sz="1100">
                <a:solidFill>
                  <a:srgbClr val="555555"/>
                </a:solidFill>
                <a:latin typeface="Calibri"/>
                <a:ea typeface="Calibri"/>
                <a:cs typeface="Calibri"/>
                <a:sym typeface="Calibri"/>
              </a:rPr>
              <a:t>Project configuration, pyproject.toml structure</a:t>
            </a:r>
            <a:endParaRPr sz="1100">
              <a:solidFill>
                <a:schemeClr val="dk1"/>
              </a:solidFill>
              <a:latin typeface="Calibri"/>
              <a:ea typeface="Calibri"/>
              <a:cs typeface="Calibri"/>
              <a:sym typeface="Calibri"/>
            </a:endParaRPr>
          </a:p>
        </p:txBody>
      </p:sp>
      <p:sp>
        <p:nvSpPr>
          <p:cNvPr id="44" name="Google Shape;44;p2"/>
          <p:cNvSpPr/>
          <p:nvPr/>
        </p:nvSpPr>
        <p:spPr>
          <a:xfrm>
            <a:off x="4572000" y="3360420"/>
            <a:ext cx="3977640" cy="6858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2"/>
          <p:cNvSpPr/>
          <p:nvPr/>
        </p:nvSpPr>
        <p:spPr>
          <a:xfrm>
            <a:off x="4572000" y="3360420"/>
            <a:ext cx="45720" cy="68580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2"/>
          <p:cNvSpPr/>
          <p:nvPr/>
        </p:nvSpPr>
        <p:spPr>
          <a:xfrm>
            <a:off x="4754880" y="3470148"/>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Georgia"/>
              <a:buNone/>
            </a:pPr>
            <a:r>
              <a:rPr b="1" lang="en-US" sz="1400">
                <a:solidFill>
                  <a:srgbClr val="333333"/>
                </a:solidFill>
                <a:latin typeface="Georgia"/>
                <a:ea typeface="Georgia"/>
                <a:cs typeface="Georgia"/>
                <a:sym typeface="Georgia"/>
              </a:rPr>
              <a:t>External Models</a:t>
            </a:r>
            <a:endParaRPr sz="1400">
              <a:solidFill>
                <a:schemeClr val="dk1"/>
              </a:solidFill>
              <a:latin typeface="Calibri"/>
              <a:ea typeface="Calibri"/>
              <a:cs typeface="Calibri"/>
              <a:sym typeface="Calibri"/>
            </a:endParaRPr>
          </a:p>
        </p:txBody>
      </p:sp>
      <p:sp>
        <p:nvSpPr>
          <p:cNvPr id="47" name="Google Shape;47;p2"/>
          <p:cNvSpPr/>
          <p:nvPr/>
        </p:nvSpPr>
        <p:spPr>
          <a:xfrm>
            <a:off x="4754880" y="3771900"/>
            <a:ext cx="361188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Calibri"/>
              <a:buNone/>
            </a:pPr>
            <a:r>
              <a:rPr lang="en-US" sz="1100">
                <a:solidFill>
                  <a:srgbClr val="555555"/>
                </a:solidFill>
                <a:latin typeface="Calibri"/>
                <a:ea typeface="Calibri"/>
                <a:cs typeface="Calibri"/>
                <a:sym typeface="Calibri"/>
              </a:rPr>
              <a:t>Deploy and manage external model endpoints</a:t>
            </a:r>
            <a:endParaRPr sz="1100">
              <a:solidFill>
                <a:schemeClr val="dk1"/>
              </a:solidFill>
              <a:latin typeface="Calibri"/>
              <a:ea typeface="Calibri"/>
              <a:cs typeface="Calibri"/>
              <a:sym typeface="Calibri"/>
            </a:endParaRPr>
          </a:p>
        </p:txBody>
      </p:sp>
      <p:sp>
        <p:nvSpPr>
          <p:cNvPr id="48" name="Google Shape;48;p2"/>
          <p:cNvSpPr/>
          <p:nvPr/>
        </p:nvSpPr>
        <p:spPr>
          <a:xfrm>
            <a:off x="457200" y="3017520"/>
            <a:ext cx="3977640" cy="6858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2"/>
          <p:cNvSpPr/>
          <p:nvPr/>
        </p:nvSpPr>
        <p:spPr>
          <a:xfrm>
            <a:off x="457200" y="3017520"/>
            <a:ext cx="45720" cy="68580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2"/>
          <p:cNvSpPr/>
          <p:nvPr/>
        </p:nvSpPr>
        <p:spPr>
          <a:xfrm>
            <a:off x="640080" y="3127248"/>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Georgia"/>
              <a:buNone/>
            </a:pPr>
            <a:r>
              <a:rPr b="1" lang="en-US" sz="1400">
                <a:solidFill>
                  <a:srgbClr val="333333"/>
                </a:solidFill>
                <a:latin typeface="Georgia"/>
                <a:ea typeface="Georgia"/>
                <a:cs typeface="Georgia"/>
                <a:sym typeface="Georgia"/>
              </a:rPr>
              <a:t>Example Code</a:t>
            </a:r>
            <a:endParaRPr sz="1400">
              <a:solidFill>
                <a:schemeClr val="dk1"/>
              </a:solidFill>
              <a:latin typeface="Calibri"/>
              <a:ea typeface="Calibri"/>
              <a:cs typeface="Calibri"/>
              <a:sym typeface="Calibri"/>
            </a:endParaRPr>
          </a:p>
        </p:txBody>
      </p:sp>
      <p:sp>
        <p:nvSpPr>
          <p:cNvPr id="51" name="Google Shape;51;p2"/>
          <p:cNvSpPr/>
          <p:nvPr/>
        </p:nvSpPr>
        <p:spPr>
          <a:xfrm>
            <a:off x="640080" y="3429000"/>
            <a:ext cx="361188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Calibri"/>
              <a:buNone/>
            </a:pPr>
            <a:r>
              <a:rPr lang="en-US" sz="1100">
                <a:solidFill>
                  <a:srgbClr val="555555"/>
                </a:solidFill>
                <a:latin typeface="Calibri"/>
                <a:ea typeface="Calibri"/>
                <a:cs typeface="Calibri"/>
                <a:sym typeface="Calibri"/>
              </a:rPr>
              <a:t>Get info from arXiv and push metadata to Delta table</a:t>
            </a:r>
            <a:endParaRPr sz="1100">
              <a:solidFill>
                <a:schemeClr val="dk1"/>
              </a:solidFill>
              <a:latin typeface="Calibri"/>
              <a:ea typeface="Calibri"/>
              <a:cs typeface="Calibri"/>
              <a:sym typeface="Calibri"/>
            </a:endParaRPr>
          </a:p>
        </p:txBody>
      </p:sp>
      <p:sp>
        <p:nvSpPr>
          <p:cNvPr id="52" name="Google Shape;52;p2"/>
          <p:cNvSpPr/>
          <p:nvPr/>
        </p:nvSpPr>
        <p:spPr>
          <a:xfrm>
            <a:off x="457200" y="3840480"/>
            <a:ext cx="3977640" cy="6858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2"/>
          <p:cNvSpPr/>
          <p:nvPr/>
        </p:nvSpPr>
        <p:spPr>
          <a:xfrm>
            <a:off x="457200" y="3840480"/>
            <a:ext cx="45720" cy="68580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2"/>
          <p:cNvSpPr/>
          <p:nvPr/>
        </p:nvSpPr>
        <p:spPr>
          <a:xfrm>
            <a:off x="640080" y="3950208"/>
            <a:ext cx="3611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400"/>
              <a:buFont typeface="Georgia"/>
              <a:buNone/>
            </a:pPr>
            <a:r>
              <a:rPr b="1" lang="en-US" sz="1400">
                <a:solidFill>
                  <a:srgbClr val="333333"/>
                </a:solidFill>
                <a:latin typeface="Georgia"/>
                <a:ea typeface="Georgia"/>
                <a:cs typeface="Georgia"/>
                <a:sym typeface="Georgia"/>
              </a:rPr>
              <a:t>Databricks Asset Bundles</a:t>
            </a:r>
            <a:endParaRPr sz="1400">
              <a:solidFill>
                <a:schemeClr val="dk1"/>
              </a:solidFill>
              <a:latin typeface="Calibri"/>
              <a:ea typeface="Calibri"/>
              <a:cs typeface="Calibri"/>
              <a:sym typeface="Calibri"/>
            </a:endParaRPr>
          </a:p>
        </p:txBody>
      </p:sp>
      <p:sp>
        <p:nvSpPr>
          <p:cNvPr id="55" name="Google Shape;55;p2"/>
          <p:cNvSpPr/>
          <p:nvPr/>
        </p:nvSpPr>
        <p:spPr>
          <a:xfrm>
            <a:off x="640080" y="4251960"/>
            <a:ext cx="361188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Calibri"/>
              <a:buNone/>
            </a:pPr>
            <a:r>
              <a:rPr lang="en-US" sz="1100">
                <a:solidFill>
                  <a:srgbClr val="555555"/>
                </a:solidFill>
                <a:latin typeface="Calibri"/>
                <a:ea typeface="Calibri"/>
                <a:cs typeface="Calibri"/>
                <a:sym typeface="Calibri"/>
              </a:rPr>
              <a:t>Run notebooks as jobs using Claude command</a:t>
            </a:r>
            <a:endParaRPr sz="1100">
              <a:solidFill>
                <a:schemeClr val="dk1"/>
              </a:solidFill>
              <a:latin typeface="Calibri"/>
              <a:ea typeface="Calibri"/>
              <a:cs typeface="Calibri"/>
              <a:sym typeface="Calibri"/>
            </a:endParaRPr>
          </a:p>
        </p:txBody>
      </p:sp>
      <p:sp>
        <p:nvSpPr>
          <p:cNvPr id="56" name="Google Shape;56;p2"/>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 name="Shape 61"/>
        <p:cNvGrpSpPr/>
        <p:nvPr/>
      </p:nvGrpSpPr>
      <p:grpSpPr>
        <a:xfrm>
          <a:off x="0" y="0"/>
          <a:ext cx="0" cy="0"/>
          <a:chOff x="0" y="0"/>
          <a:chExt cx="0" cy="0"/>
        </a:xfrm>
      </p:grpSpPr>
      <p:pic>
        <p:nvPicPr>
          <p:cNvPr descr="/sessions/nifty-pensive-fermi/kickoff_unpacked/ppt/media/image1.png" id="62" name="Google Shape;62;p3"/>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63" name="Google Shape;63;p3"/>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3"/>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pic>
        <p:nvPicPr>
          <p:cNvPr id="65" name="Google Shape;65;p3"/>
          <p:cNvPicPr preferRelativeResize="0"/>
          <p:nvPr/>
        </p:nvPicPr>
        <p:blipFill rotWithShape="1">
          <a:blip r:embed="rId4">
            <a:alphaModFix/>
          </a:blip>
          <a:srcRect b="0" l="0" r="0" t="0"/>
          <a:stretch/>
        </p:blipFill>
        <p:spPr>
          <a:xfrm>
            <a:off x="1331235" y="0"/>
            <a:ext cx="6481529"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pic>
        <p:nvPicPr>
          <p:cNvPr descr="/sessions/nifty-pensive-fermi/kickoff_unpacked/ppt/media/image1.png" id="71" name="Google Shape;71;p4"/>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72" name="Google Shape;72;p4"/>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4"/>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pic>
        <p:nvPicPr>
          <p:cNvPr id="74" name="Google Shape;74;p4"/>
          <p:cNvPicPr preferRelativeResize="0"/>
          <p:nvPr/>
        </p:nvPicPr>
        <p:blipFill rotWithShape="1">
          <a:blip r:embed="rId4">
            <a:alphaModFix/>
          </a:blip>
          <a:srcRect b="0" l="0" r="0" t="0"/>
          <a:stretch/>
        </p:blipFill>
        <p:spPr>
          <a:xfrm>
            <a:off x="1291183" y="960120"/>
            <a:ext cx="5790337" cy="4061008"/>
          </a:xfrm>
          <a:prstGeom prst="rect">
            <a:avLst/>
          </a:prstGeom>
          <a:noFill/>
          <a:ln>
            <a:noFill/>
          </a:ln>
        </p:spPr>
      </p:pic>
      <p:sp>
        <p:nvSpPr>
          <p:cNvPr id="75" name="Google Shape;75;p4"/>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Serverless environment versions</a:t>
            </a:r>
            <a:endParaRPr sz="2000">
              <a:solidFill>
                <a:schemeClr val="dk1"/>
              </a:solidFill>
              <a:latin typeface="Arial"/>
              <a:ea typeface="Arial"/>
              <a:cs typeface="Arial"/>
              <a:sym typeface="Arial"/>
            </a:endParaRPr>
          </a:p>
        </p:txBody>
      </p:sp>
      <p:sp>
        <p:nvSpPr>
          <p:cNvPr id="76" name="Google Shape;76;p4"/>
          <p:cNvSpPr txBox="1"/>
          <p:nvPr/>
        </p:nvSpPr>
        <p:spPr>
          <a:xfrm>
            <a:off x="7201402" y="2182814"/>
            <a:ext cx="1873515"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u="sng">
                <a:solidFill>
                  <a:schemeClr val="dk1"/>
                </a:solidFill>
                <a:latin typeface="Calibri"/>
                <a:ea typeface="Calibri"/>
                <a:cs typeface="Calibri"/>
                <a:sym typeface="Calibri"/>
                <a:hlinkClick r:id="rId5">
                  <a:extLst>
                    <a:ext uri="{A12FA001-AC4F-418D-AE19-62706E023703}">
                      <ahyp:hlinkClr val="tx"/>
                    </a:ext>
                  </a:extLst>
                </a:hlinkClick>
              </a:rPr>
              <a:t>https://docs.databricks.com/aws/en/release-notes/serverless/environment-version/</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pic>
        <p:nvPicPr>
          <p:cNvPr descr="/sessions/nifty-pensive-fermi/kickoff_unpacked/ppt/media/image1.png" id="82" name="Google Shape;82;p5"/>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83" name="Google Shape;83;p5"/>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
        <p:nvSpPr>
          <p:cNvPr id="85" name="Google Shape;85;p5"/>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Databricks development tools</a:t>
            </a:r>
            <a:endParaRPr sz="2000">
              <a:solidFill>
                <a:schemeClr val="dk1"/>
              </a:solidFill>
              <a:latin typeface="Arial"/>
              <a:ea typeface="Arial"/>
              <a:cs typeface="Arial"/>
              <a:sym typeface="Arial"/>
            </a:endParaRPr>
          </a:p>
        </p:txBody>
      </p:sp>
      <p:pic>
        <p:nvPicPr>
          <p:cNvPr id="86" name="Google Shape;86;p5"/>
          <p:cNvPicPr preferRelativeResize="0"/>
          <p:nvPr/>
        </p:nvPicPr>
        <p:blipFill rotWithShape="1">
          <a:blip r:embed="rId4">
            <a:alphaModFix/>
          </a:blip>
          <a:srcRect b="0" l="0" r="0" t="0"/>
          <a:stretch/>
        </p:blipFill>
        <p:spPr>
          <a:xfrm>
            <a:off x="1007347" y="865814"/>
            <a:ext cx="6757416" cy="40490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sessions/nifty-pensive-fermi/kickoff_unpacked/ppt/media/image1.png" id="92" name="Google Shape;92;p6"/>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93" name="Google Shape;93;p6"/>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6"/>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
        <p:nvSpPr>
          <p:cNvPr id="95" name="Google Shape;95;p6"/>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Authentication using Databricks CLI</a:t>
            </a:r>
            <a:endParaRPr sz="2000">
              <a:solidFill>
                <a:schemeClr val="dk1"/>
              </a:solidFill>
              <a:latin typeface="Arial"/>
              <a:ea typeface="Arial"/>
              <a:cs typeface="Arial"/>
              <a:sym typeface="Arial"/>
            </a:endParaRPr>
          </a:p>
        </p:txBody>
      </p:sp>
      <p:sp>
        <p:nvSpPr>
          <p:cNvPr id="96" name="Google Shape;96;p6"/>
          <p:cNvSpPr/>
          <p:nvPr/>
        </p:nvSpPr>
        <p:spPr>
          <a:xfrm>
            <a:off x="758974" y="1171662"/>
            <a:ext cx="7379186" cy="34932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E0E0E"/>
              </a:buClr>
              <a:buSzPts val="1300"/>
              <a:buFont typeface="Arial"/>
              <a:buNone/>
            </a:pPr>
            <a:r>
              <a:rPr b="0" i="0" lang="en-US" sz="1300" u="none" cap="none" strike="noStrike">
                <a:solidFill>
                  <a:srgbClr val="0E0E0E"/>
                </a:solidFill>
                <a:latin typeface="Arial"/>
                <a:ea typeface="Arial"/>
                <a:cs typeface="Arial"/>
                <a:sym typeface="Arial"/>
              </a:rPr>
              <a:t>1. </a:t>
            </a:r>
            <a:r>
              <a:rPr b="1" i="0" lang="en-US" sz="1300" u="none" cap="none" strike="noStrike">
                <a:solidFill>
                  <a:srgbClr val="0E0E0E"/>
                </a:solidFill>
                <a:latin typeface="Arial"/>
                <a:ea typeface="Arial"/>
                <a:cs typeface="Arial"/>
                <a:sym typeface="Arial"/>
              </a:rPr>
              <a:t>Install the Databricks CLI</a:t>
            </a:r>
            <a:r>
              <a:rPr b="0" i="0" lang="en-US" sz="1300" u="none" cap="none" strike="noStrike">
                <a:solidFill>
                  <a:srgbClr val="0E0E0E"/>
                </a:solidFill>
                <a:latin typeface="Arial"/>
                <a:ea typeface="Arial"/>
                <a:cs typeface="Arial"/>
                <a:sym typeface="Arial"/>
              </a:rPr>
              <a:t> if it’s not already installed.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980000"/>
              </a:buClr>
              <a:buSzPts val="1300"/>
              <a:buFont typeface="Arial"/>
              <a:buNone/>
            </a:pPr>
            <a:r>
              <a:rPr b="0" i="0" lang="en-US" sz="1300" u="none" cap="none" strike="noStrike">
                <a:solidFill>
                  <a:srgbClr val="980000"/>
                </a:solidFill>
                <a:latin typeface="Arial"/>
                <a:ea typeface="Arial"/>
                <a:cs typeface="Arial"/>
                <a:sym typeface="Arial"/>
              </a:rPr>
              <a:t>$ brew tap databricks/tap</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980000"/>
              </a:buClr>
              <a:buSzPts val="1300"/>
              <a:buFont typeface="Arial"/>
              <a:buNone/>
            </a:pPr>
            <a:r>
              <a:rPr b="0" i="0" lang="en-US" sz="1300" u="none" cap="none" strike="noStrike">
                <a:solidFill>
                  <a:srgbClr val="980000"/>
                </a:solidFill>
                <a:latin typeface="Arial"/>
                <a:ea typeface="Arial"/>
                <a:cs typeface="Arial"/>
                <a:sym typeface="Arial"/>
              </a:rPr>
              <a:t>$ brew install databricks</a:t>
            </a:r>
            <a:endParaRPr b="0" i="0" sz="13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300" u="none" cap="none" strike="noStrike">
                <a:solidFill>
                  <a:srgbClr val="0E0E0E"/>
                </a:solidFill>
                <a:latin typeface="Arial"/>
                <a:ea typeface="Arial"/>
                <a:cs typeface="Arial"/>
                <a:sym typeface="Arial"/>
              </a:rPr>
              <a:t>2. </a:t>
            </a:r>
            <a:r>
              <a:rPr b="1" i="0" lang="en-US" sz="1300" u="none" cap="none" strike="noStrike">
                <a:solidFill>
                  <a:srgbClr val="0E0E0E"/>
                </a:solidFill>
                <a:latin typeface="Arial"/>
                <a:ea typeface="Arial"/>
                <a:cs typeface="Arial"/>
                <a:sym typeface="Arial"/>
              </a:rPr>
              <a:t>Initiate Authentication</a:t>
            </a:r>
            <a:r>
              <a:rPr b="0" i="0" lang="en-US" sz="1300" u="none" cap="none" strike="noStrike">
                <a:solidFill>
                  <a:srgbClr val="0E0E0E"/>
                </a:solidFill>
                <a:latin typeface="Arial"/>
                <a:ea typeface="Arial"/>
                <a:cs typeface="Arial"/>
                <a:sym typeface="Arial"/>
              </a:rPr>
              <a:t>: Run the command:</a:t>
            </a:r>
            <a:endParaRPr/>
          </a:p>
          <a:p>
            <a:pPr indent="0" lvl="0" marL="0" marR="0" rtl="0" algn="l">
              <a:spcBef>
                <a:spcPts val="0"/>
              </a:spcBef>
              <a:spcAft>
                <a:spcPts val="0"/>
              </a:spcAft>
              <a:buNone/>
            </a:pPr>
            <a:r>
              <a:rPr b="0" i="0" lang="en-US" sz="1300" u="none" cap="none" strike="noStrike">
                <a:solidFill>
                  <a:srgbClr val="980000"/>
                </a:solidFill>
                <a:latin typeface="Arial"/>
                <a:ea typeface="Arial"/>
                <a:cs typeface="Arial"/>
                <a:sym typeface="Arial"/>
              </a:rPr>
              <a:t>$ databricks auth login - configure-cluster - host </a:t>
            </a:r>
            <a:r>
              <a:rPr lang="en-US" sz="1300">
                <a:solidFill>
                  <a:srgbClr val="0E0E0E"/>
                </a:solidFill>
                <a:latin typeface="Arial"/>
                <a:ea typeface="Arial"/>
                <a:cs typeface="Arial"/>
                <a:sym typeface="Arial"/>
              </a:rPr>
              <a:t>&lt;workspace-url&gt; </a:t>
            </a:r>
            <a:endParaRPr/>
          </a:p>
          <a:p>
            <a:pPr indent="0" lvl="0" marL="0" marR="0" rtl="0" algn="l">
              <a:spcBef>
                <a:spcPts val="0"/>
              </a:spcBef>
              <a:spcAft>
                <a:spcPts val="0"/>
              </a:spcAft>
              <a:buNone/>
            </a:pPr>
            <a:r>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E0E0E"/>
              </a:buClr>
              <a:buSzPts val="1300"/>
              <a:buFont typeface="Arial"/>
              <a:buNone/>
            </a:pPr>
            <a:r>
              <a:rPr b="0" i="0" lang="en-US" sz="1300" u="none" cap="none" strike="noStrike">
                <a:solidFill>
                  <a:srgbClr val="0E0E0E"/>
                </a:solidFill>
                <a:latin typeface="Arial"/>
                <a:ea typeface="Arial"/>
                <a:cs typeface="Arial"/>
                <a:sym typeface="Arial"/>
              </a:rPr>
              <a:t>3. </a:t>
            </a:r>
            <a:r>
              <a:rPr b="1" i="0" lang="en-US" sz="1300" u="none" cap="none" strike="noStrike">
                <a:solidFill>
                  <a:srgbClr val="0E0E0E"/>
                </a:solidFill>
                <a:latin typeface="Arial"/>
                <a:ea typeface="Arial"/>
                <a:cs typeface="Arial"/>
                <a:sym typeface="Arial"/>
              </a:rPr>
              <a:t>Configuration Profiles</a:t>
            </a:r>
            <a:r>
              <a:rPr b="0" i="0" lang="en-US" sz="1300" u="none" cap="none" strike="noStrike">
                <a:solidFill>
                  <a:srgbClr val="0E0E0E"/>
                </a:solidFill>
                <a:latin typeface="Arial"/>
                <a:ea typeface="Arial"/>
                <a:cs typeface="Arial"/>
                <a:sym typeface="Arial"/>
              </a:rPr>
              <a:t>: After entering your information, the CLI will prompt you to save it under a Databricks configuration profile.</a:t>
            </a:r>
            <a:endParaRPr/>
          </a:p>
          <a:p>
            <a:pPr indent="0" lvl="0" marL="0" marR="0" rtl="0" algn="l">
              <a:lnSpc>
                <a:spcPct val="100000"/>
              </a:lnSpc>
              <a:spcBef>
                <a:spcPts val="0"/>
              </a:spcBef>
              <a:spcAft>
                <a:spcPts val="0"/>
              </a:spcAft>
              <a:buClr>
                <a:schemeClr val="dk1"/>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E0E0E"/>
              </a:buClr>
              <a:buSzPts val="1300"/>
              <a:buFont typeface="Arial"/>
              <a:buNone/>
            </a:pPr>
            <a:r>
              <a:rPr b="0" i="0" lang="en-US" sz="1300" u="none" cap="none" strike="noStrike">
                <a:solidFill>
                  <a:srgbClr val="0E0E0E"/>
                </a:solidFill>
                <a:latin typeface="Arial"/>
                <a:ea typeface="Arial"/>
                <a:cs typeface="Arial"/>
                <a:sym typeface="Arial"/>
              </a:rPr>
              <a:t>4. </a:t>
            </a:r>
            <a:r>
              <a:rPr b="1" i="0" lang="en-US" sz="1300" u="none" cap="none" strike="noStrike">
                <a:solidFill>
                  <a:srgbClr val="0E0E0E"/>
                </a:solidFill>
                <a:latin typeface="Arial"/>
                <a:ea typeface="Arial"/>
                <a:cs typeface="Arial"/>
                <a:sym typeface="Arial"/>
              </a:rPr>
              <a:t>Manage Profiles</a:t>
            </a:r>
            <a:r>
              <a:rPr b="0" i="0" lang="en-US" sz="1300" u="none" cap="none" strike="noStrike">
                <a:solidFill>
                  <a:srgbClr val="0E0E0E"/>
                </a:solidFill>
                <a:latin typeface="Arial"/>
                <a:ea typeface="Arial"/>
                <a:cs typeface="Arial"/>
                <a:sym typeface="Arial"/>
              </a:rPr>
              <a:t>: To list or view settings of existing profiles, use: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980000"/>
              </a:buClr>
              <a:buSzPts val="1300"/>
              <a:buFont typeface="Arial"/>
              <a:buNone/>
            </a:pPr>
            <a:r>
              <a:rPr b="0" i="0" lang="en-US" sz="1300" u="none" cap="none" strike="noStrike">
                <a:solidFill>
                  <a:srgbClr val="980000"/>
                </a:solidFill>
                <a:latin typeface="Arial"/>
                <a:ea typeface="Arial"/>
                <a:cs typeface="Arial"/>
                <a:sym typeface="Arial"/>
              </a:rPr>
              <a:t>$ databricks auth profiles</a:t>
            </a:r>
            <a:endParaRPr/>
          </a:p>
          <a:p>
            <a:pPr indent="0" lvl="0" marL="0" marR="0" rtl="0" algn="l">
              <a:lnSpc>
                <a:spcPct val="100000"/>
              </a:lnSpc>
              <a:spcBef>
                <a:spcPts val="0"/>
              </a:spcBef>
              <a:spcAft>
                <a:spcPts val="0"/>
              </a:spcAft>
              <a:buClr>
                <a:schemeClr val="dk1"/>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E0E0E"/>
              </a:buClr>
              <a:buSzPts val="1300"/>
              <a:buFont typeface="Arial"/>
              <a:buNone/>
            </a:pPr>
            <a:r>
              <a:rPr b="0" i="0" lang="en-US" sz="1300" u="none" cap="none" strike="noStrike">
                <a:solidFill>
                  <a:srgbClr val="0E0E0E"/>
                </a:solidFill>
                <a:latin typeface="Arial"/>
                <a:ea typeface="Arial"/>
                <a:cs typeface="Arial"/>
                <a:sym typeface="Arial"/>
              </a:rPr>
              <a:t>5. </a:t>
            </a:r>
            <a:r>
              <a:rPr b="1" i="0" lang="en-US" sz="1300" u="none" cap="none" strike="noStrike">
                <a:solidFill>
                  <a:srgbClr val="0E0E0E"/>
                </a:solidFill>
                <a:latin typeface="Arial"/>
                <a:ea typeface="Arial"/>
                <a:cs typeface="Arial"/>
                <a:sym typeface="Arial"/>
              </a:rPr>
              <a:t>Web Browser Login</a:t>
            </a:r>
            <a:endParaRPr b="0" i="0" sz="1300" u="none" cap="none" strike="noStrike">
              <a:solidFill>
                <a:srgbClr val="0E0E0E"/>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E0E0E"/>
              </a:buClr>
              <a:buSzPts val="1300"/>
              <a:buFont typeface="Arial"/>
              <a:buNone/>
            </a:pPr>
            <a:r>
              <a:rPr lang="en-US" sz="1300">
                <a:solidFill>
                  <a:srgbClr val="0E0E0E"/>
                </a:solidFill>
                <a:latin typeface="Arial"/>
                <a:ea typeface="Arial"/>
                <a:cs typeface="Arial"/>
                <a:sym typeface="Arial"/>
              </a:rPr>
              <a:t>6</a:t>
            </a:r>
            <a:r>
              <a:rPr b="0" i="0" lang="en-US" sz="1300" u="none" cap="none" strike="noStrike">
                <a:solidFill>
                  <a:srgbClr val="0E0E0E"/>
                </a:solidFill>
                <a:latin typeface="Arial"/>
                <a:ea typeface="Arial"/>
                <a:cs typeface="Arial"/>
                <a:sym typeface="Arial"/>
              </a:rPr>
              <a:t>. </a:t>
            </a:r>
            <a:r>
              <a:rPr b="1" i="0" lang="en-US" sz="1300" u="none" cap="none" strike="noStrike">
                <a:solidFill>
                  <a:srgbClr val="0E0E0E"/>
                </a:solidFill>
                <a:latin typeface="Arial"/>
                <a:ea typeface="Arial"/>
                <a:cs typeface="Arial"/>
                <a:sym typeface="Arial"/>
              </a:rPr>
              <a:t>View Token Information</a:t>
            </a:r>
            <a:r>
              <a:rPr b="0" i="0" lang="en-US" sz="1300" u="none" cap="none" strike="noStrike">
                <a:solidFill>
                  <a:srgbClr val="0E0E0E"/>
                </a:solidFill>
                <a:latin typeface="Arial"/>
                <a:ea typeface="Arial"/>
                <a:cs typeface="Arial"/>
                <a:sym typeface="Arial"/>
              </a:rPr>
              <a:t>: To view the current OAuth token and its expiration</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980000"/>
              </a:buClr>
              <a:buSzPts val="1300"/>
              <a:buFont typeface="Arial"/>
              <a:buNone/>
            </a:pPr>
            <a:r>
              <a:rPr b="0" i="0" lang="en-US" sz="1300" u="none" cap="none" strike="noStrike">
                <a:solidFill>
                  <a:srgbClr val="980000"/>
                </a:solidFill>
                <a:latin typeface="Arial"/>
                <a:ea typeface="Arial"/>
                <a:cs typeface="Arial"/>
                <a:sym typeface="Arial"/>
              </a:rPr>
              <a:t> databricks auth token --host https://dbc-90b329c4-aa90.cloud.databricks.com</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sessions/nifty-pensive-fermi/kickoff_unpacked/ppt/media/image1.png" id="102" name="Google Shape;102;p7"/>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103" name="Google Shape;103;p7"/>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
        <p:nvSpPr>
          <p:cNvPr id="105" name="Google Shape;105;p7"/>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Databricks asset bundles (DABs)</a:t>
            </a:r>
            <a:endParaRPr sz="2000">
              <a:solidFill>
                <a:schemeClr val="dk1"/>
              </a:solidFill>
              <a:latin typeface="Arial"/>
              <a:ea typeface="Arial"/>
              <a:cs typeface="Arial"/>
              <a:sym typeface="Arial"/>
            </a:endParaRPr>
          </a:p>
        </p:txBody>
      </p:sp>
      <p:sp>
        <p:nvSpPr>
          <p:cNvPr id="106" name="Google Shape;106;p7"/>
          <p:cNvSpPr txBox="1"/>
          <p:nvPr/>
        </p:nvSpPr>
        <p:spPr>
          <a:xfrm>
            <a:off x="512064" y="1549085"/>
            <a:ext cx="4466319"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b="0" i="0" lang="en-US" sz="1400" u="none" strike="noStrike">
                <a:solidFill>
                  <a:srgbClr val="000000"/>
                </a:solidFill>
                <a:latin typeface="Arial"/>
                <a:ea typeface="Arial"/>
                <a:cs typeface="Arial"/>
                <a:sym typeface="Arial"/>
              </a:rPr>
            </a:br>
            <a:r>
              <a:rPr b="0" i="0" lang="en-US" sz="1400" u="none" strike="noStrike">
                <a:solidFill>
                  <a:srgbClr val="000000"/>
                </a:solidFill>
                <a:latin typeface="Arial"/>
                <a:ea typeface="Arial"/>
                <a:cs typeface="Arial"/>
                <a:sym typeface="Arial"/>
              </a:rPr>
              <a:t>DABs is a way to package and deploy </a:t>
            </a:r>
            <a:r>
              <a:rPr lang="en-US" sz="1400">
                <a:solidFill>
                  <a:srgbClr val="000000"/>
                </a:solidFill>
                <a:latin typeface="Arial"/>
                <a:ea typeface="Arial"/>
                <a:cs typeface="Arial"/>
                <a:sym typeface="Arial"/>
              </a:rPr>
              <a:t>Databricks resources and all their</a:t>
            </a:r>
            <a:r>
              <a:rPr b="0" i="0" lang="en-US" sz="1400" u="none" strike="noStrike">
                <a:solidFill>
                  <a:srgbClr val="000000"/>
                </a:solidFill>
                <a:latin typeface="Arial"/>
                <a:ea typeface="Arial"/>
                <a:cs typeface="Arial"/>
                <a:sym typeface="Arial"/>
              </a:rPr>
              <a:t> dependencies. </a:t>
            </a:r>
            <a:r>
              <a:rPr lang="en-US" sz="1400">
                <a:solidFill>
                  <a:srgbClr val="000000"/>
                </a:solidFill>
                <a:latin typeface="Arial"/>
                <a:ea typeface="Arial"/>
                <a:cs typeface="Arial"/>
                <a:sym typeface="Arial"/>
              </a:rPr>
              <a:t>It uses Terraform on the background</a:t>
            </a:r>
            <a:br>
              <a:rPr lang="en-US"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en-US" sz="1400" u="none" strike="noStrike">
                <a:solidFill>
                  <a:srgbClr val="000000"/>
                </a:solidFill>
                <a:latin typeface="Arial"/>
                <a:ea typeface="Arial"/>
                <a:cs typeface="Arial"/>
                <a:sym typeface="Arial"/>
              </a:rPr>
              <a:t>Other ways </a:t>
            </a:r>
            <a:r>
              <a:rPr lang="en-US" sz="1400">
                <a:solidFill>
                  <a:srgbClr val="000000"/>
                </a:solidFill>
                <a:latin typeface="Arial"/>
                <a:ea typeface="Arial"/>
                <a:cs typeface="Arial"/>
                <a:sym typeface="Arial"/>
              </a:rPr>
              <a:t>to deploy resources:</a:t>
            </a:r>
            <a:endParaRPr b="0" i="0" sz="1400" u="none" strike="noStrike">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400"/>
              <a:buFont typeface="Arial"/>
              <a:buChar char="-"/>
            </a:pPr>
            <a:r>
              <a:rPr b="0" i="0" lang="en-US" sz="1400" u="none" strike="noStrike">
                <a:solidFill>
                  <a:srgbClr val="000000"/>
                </a:solidFill>
                <a:latin typeface="Arial"/>
                <a:ea typeface="Arial"/>
                <a:cs typeface="Arial"/>
                <a:sym typeface="Arial"/>
              </a:rPr>
              <a:t>Terraform</a:t>
            </a:r>
            <a:endParaRPr/>
          </a:p>
          <a:p>
            <a:pPr indent="-285750" lvl="0" marL="285750" marR="0" rtl="0" algn="l">
              <a:spcBef>
                <a:spcPts val="0"/>
              </a:spcBef>
              <a:spcAft>
                <a:spcPts val="0"/>
              </a:spcAft>
              <a:buClr>
                <a:srgbClr val="000000"/>
              </a:buClr>
              <a:buSzPts val="1400"/>
              <a:buFont typeface="Arial"/>
              <a:buChar char="-"/>
            </a:pPr>
            <a:r>
              <a:rPr b="0" i="0" lang="en-US" sz="1400" u="none" strike="noStrike">
                <a:solidFill>
                  <a:srgbClr val="000000"/>
                </a:solidFill>
                <a:latin typeface="Arial"/>
                <a:ea typeface="Arial"/>
                <a:cs typeface="Arial"/>
                <a:sym typeface="Arial"/>
              </a:rPr>
              <a:t>Databricks APIs</a:t>
            </a:r>
            <a:endParaRPr/>
          </a:p>
          <a:p>
            <a:pPr indent="-285750" lvl="0" marL="285750" marR="0" rtl="0" algn="l">
              <a:spcBef>
                <a:spcPts val="0"/>
              </a:spcBef>
              <a:spcAft>
                <a:spcPts val="0"/>
              </a:spcAft>
              <a:buClr>
                <a:srgbClr val="000000"/>
              </a:buClr>
              <a:buSzPts val="1400"/>
              <a:buFont typeface="Arial"/>
              <a:buChar char="-"/>
            </a:pPr>
            <a:r>
              <a:rPr b="0" i="0" lang="en-US" sz="1400" u="none" strike="noStrike">
                <a:solidFill>
                  <a:srgbClr val="000000"/>
                </a:solidFill>
                <a:latin typeface="Arial"/>
                <a:ea typeface="Arial"/>
                <a:cs typeface="Arial"/>
                <a:sym typeface="Arial"/>
              </a:rPr>
              <a:t>Databricks asset bundles (DAB)</a:t>
            </a:r>
            <a:endParaRPr/>
          </a:p>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Databricks sdk</a:t>
            </a:r>
            <a:endParaRPr sz="1400">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CLI</a:t>
            </a:r>
            <a:endParaRPr/>
          </a:p>
          <a:p>
            <a:pPr indent="-285750" lvl="0" marL="285750" marR="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MLflow library</a:t>
            </a:r>
            <a:endParaRPr/>
          </a:p>
        </p:txBody>
      </p:sp>
      <p:pic>
        <p:nvPicPr>
          <p:cNvPr id="107" name="Google Shape;107;p7"/>
          <p:cNvPicPr preferRelativeResize="0"/>
          <p:nvPr/>
        </p:nvPicPr>
        <p:blipFill rotWithShape="1">
          <a:blip r:embed="rId4">
            <a:alphaModFix/>
          </a:blip>
          <a:srcRect b="0" l="0" r="0" t="0"/>
          <a:stretch/>
        </p:blipFill>
        <p:spPr>
          <a:xfrm>
            <a:off x="4978383" y="1424188"/>
            <a:ext cx="3410840" cy="2927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sessions/nifty-pensive-fermi/kickoff_unpacked/ppt/media/image1.png" id="113" name="Google Shape;113;p8"/>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114" name="Google Shape;114;p8"/>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8"/>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
        <p:nvSpPr>
          <p:cNvPr id="116" name="Google Shape;116;p8"/>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Resources supported through DABs</a:t>
            </a:r>
            <a:endParaRPr sz="2000">
              <a:solidFill>
                <a:schemeClr val="dk1"/>
              </a:solidFill>
              <a:latin typeface="Arial"/>
              <a:ea typeface="Arial"/>
              <a:cs typeface="Arial"/>
              <a:sym typeface="Arial"/>
            </a:endParaRPr>
          </a:p>
        </p:txBody>
      </p:sp>
      <p:sp>
        <p:nvSpPr>
          <p:cNvPr id="117" name="Google Shape;117;p8"/>
          <p:cNvSpPr txBox="1"/>
          <p:nvPr/>
        </p:nvSpPr>
        <p:spPr>
          <a:xfrm>
            <a:off x="387527" y="1201995"/>
            <a:ext cx="7933375" cy="332398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Lakeflow jobs</a:t>
            </a:r>
            <a:endParaRPr/>
          </a:p>
          <a:p>
            <a:pPr indent="-285750" lvl="0" marL="285750" marR="0" rtl="0" algn="l">
              <a:spcBef>
                <a:spcPts val="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Alerts</a:t>
            </a:r>
            <a:endParaRPr/>
          </a:p>
          <a:p>
            <a:pPr indent="-285750" lvl="0" marL="285750" marR="0" rtl="0" algn="l">
              <a:spcBef>
                <a:spcPts val="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Apps</a:t>
            </a:r>
            <a:endParaRPr/>
          </a:p>
          <a:p>
            <a:pPr indent="-285750" lvl="0" marL="285750" marR="0" rtl="0" algn="l">
              <a:spcBef>
                <a:spcPts val="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Clusters</a:t>
            </a:r>
            <a:endParaRPr/>
          </a:p>
          <a:p>
            <a:pPr indent="-285750" lvl="0" marL="285750" marR="0" rtl="0" algn="l">
              <a:spcBef>
                <a:spcPts val="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Dashboards</a:t>
            </a:r>
            <a:endParaRPr/>
          </a:p>
          <a:p>
            <a:pPr indent="-285750" lvl="0" marL="285750" marR="0" rtl="0" algn="l">
              <a:spcBef>
                <a:spcPts val="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Lakebase objects (database catalogs and instances, or synced database table)</a:t>
            </a:r>
            <a:endParaRPr/>
          </a:p>
          <a:p>
            <a:pPr indent="-285750" lvl="0" marL="285750" marR="0" rtl="0" algn="l">
              <a:spcBef>
                <a:spcPts val="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SQL warehouses</a:t>
            </a:r>
            <a:endParaRPr/>
          </a:p>
          <a:p>
            <a:pPr indent="-285750" lvl="0" marL="285750" marR="0" rtl="0" algn="l">
              <a:spcBef>
                <a:spcPts val="0"/>
              </a:spcBef>
              <a:spcAft>
                <a:spcPts val="0"/>
              </a:spcAft>
              <a:buClr>
                <a:schemeClr val="accent2"/>
              </a:buClr>
              <a:buSzPts val="1400"/>
              <a:buFont typeface="Arial"/>
              <a:buChar char="•"/>
            </a:pPr>
            <a:r>
              <a:rPr b="1" lang="en-US" sz="1400">
                <a:solidFill>
                  <a:schemeClr val="accent2"/>
                </a:solidFill>
                <a:latin typeface="Arial"/>
                <a:ea typeface="Arial"/>
                <a:cs typeface="Arial"/>
                <a:sym typeface="Arial"/>
              </a:rPr>
              <a:t>Lakeflow Spark Declarative Pipelines</a:t>
            </a:r>
            <a:endParaRPr/>
          </a:p>
          <a:p>
            <a:pPr indent="-196850" lvl="0" marL="28575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Arial"/>
                <a:ea typeface="Arial"/>
                <a:cs typeface="Arial"/>
                <a:sym typeface="Arial"/>
              </a:rPr>
              <a:t>MLflow experiments </a:t>
            </a:r>
            <a:r>
              <a:rPr lang="en-US" sz="1400">
                <a:solidFill>
                  <a:schemeClr val="dk1"/>
                </a:solidFill>
                <a:latin typeface="Arial"/>
                <a:ea typeface="Arial"/>
                <a:cs typeface="Arial"/>
                <a:sym typeface="Arial"/>
              </a:rPr>
              <a:t>– better via sdk/Mlflow library</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Arial"/>
                <a:ea typeface="Arial"/>
                <a:cs typeface="Arial"/>
                <a:sym typeface="Arial"/>
              </a:rPr>
              <a:t>Mosaic AI Model serving endpoints </a:t>
            </a:r>
            <a:r>
              <a:rPr lang="en-US" sz="1400">
                <a:solidFill>
                  <a:schemeClr val="dk1"/>
                </a:solidFill>
                <a:latin typeface="Arial"/>
                <a:ea typeface="Arial"/>
                <a:cs typeface="Arial"/>
                <a:sym typeface="Arial"/>
              </a:rPr>
              <a:t>– better via sdk</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Arial"/>
                <a:ea typeface="Arial"/>
                <a:cs typeface="Arial"/>
                <a:sym typeface="Arial"/>
              </a:rPr>
              <a:t>Quality monitors </a:t>
            </a:r>
            <a:r>
              <a:rPr lang="en-US" sz="1400">
                <a:solidFill>
                  <a:schemeClr val="dk1"/>
                </a:solidFill>
                <a:latin typeface="Arial"/>
                <a:ea typeface="Arial"/>
                <a:cs typeface="Arial"/>
                <a:sym typeface="Arial"/>
              </a:rPr>
              <a:t>– better via sdk</a:t>
            </a:r>
            <a:endParaRPr b="1"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Arial"/>
                <a:ea typeface="Arial"/>
                <a:cs typeface="Arial"/>
                <a:sym typeface="Arial"/>
              </a:rPr>
              <a:t>Unity-catalog objects (schemas, catalogs, volumes) </a:t>
            </a:r>
            <a:r>
              <a:rPr lang="en-US" sz="1400">
                <a:solidFill>
                  <a:schemeClr val="dk1"/>
                </a:solidFill>
                <a:latin typeface="Arial"/>
                <a:ea typeface="Arial"/>
                <a:cs typeface="Arial"/>
                <a:sym typeface="Arial"/>
              </a:rPr>
              <a:t>– better through Terraform</a:t>
            </a:r>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Arial"/>
                <a:ea typeface="Arial"/>
                <a:cs typeface="Arial"/>
                <a:sym typeface="Arial"/>
              </a:rPr>
              <a:t>Registered models – </a:t>
            </a:r>
            <a:r>
              <a:rPr lang="en-US" sz="1400">
                <a:solidFill>
                  <a:schemeClr val="dk1"/>
                </a:solidFill>
                <a:latin typeface="Arial"/>
                <a:ea typeface="Arial"/>
                <a:cs typeface="Arial"/>
                <a:sym typeface="Arial"/>
              </a:rPr>
              <a:t>better via MLflow</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Arial"/>
              <a:buChar char="•"/>
            </a:pPr>
            <a:r>
              <a:rPr b="1" lang="en-US" sz="1400">
                <a:solidFill>
                  <a:schemeClr val="dk1"/>
                </a:solidFill>
                <a:latin typeface="Arial"/>
                <a:ea typeface="Arial"/>
                <a:cs typeface="Arial"/>
                <a:sym typeface="Arial"/>
              </a:rPr>
              <a:t>Secret scopes</a:t>
            </a:r>
            <a:r>
              <a:rPr lang="en-US" sz="1400">
                <a:solidFill>
                  <a:schemeClr val="dk1"/>
                </a:solidFill>
                <a:latin typeface="Arial"/>
                <a:ea typeface="Arial"/>
                <a:cs typeface="Arial"/>
                <a:sym typeface="Arial"/>
              </a:rPr>
              <a:t> – better through Terraform</a:t>
            </a:r>
            <a:endParaRPr b="1" sz="1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9"/>
          <p:cNvSpPr/>
          <p:nvPr/>
        </p:nvSpPr>
        <p:spPr>
          <a:xfrm>
            <a:off x="625000" y="1202000"/>
            <a:ext cx="7236300" cy="30111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essions/nifty-pensive-fermi/kickoff_unpacked/ppt/media/image1.png" id="124" name="Google Shape;124;p9"/>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125" name="Google Shape;125;p9"/>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9"/>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
        <p:nvSpPr>
          <p:cNvPr id="127" name="Google Shape;127;p9"/>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Important DABs commands</a:t>
            </a:r>
            <a:endParaRPr sz="2000">
              <a:solidFill>
                <a:schemeClr val="dk1"/>
              </a:solidFill>
              <a:latin typeface="Arial"/>
              <a:ea typeface="Arial"/>
              <a:cs typeface="Arial"/>
              <a:sym typeface="Arial"/>
            </a:endParaRPr>
          </a:p>
        </p:txBody>
      </p:sp>
      <p:sp>
        <p:nvSpPr>
          <p:cNvPr id="128" name="Google Shape;128;p9"/>
          <p:cNvSpPr txBox="1"/>
          <p:nvPr/>
        </p:nvSpPr>
        <p:spPr>
          <a:xfrm>
            <a:off x="788818" y="1412296"/>
            <a:ext cx="7182260"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databricks bundle validate </a:t>
            </a:r>
            <a:r>
              <a:rPr lang="en-US" sz="1600">
                <a:solidFill>
                  <a:schemeClr val="dk1"/>
                </a:solidFill>
                <a:latin typeface="Arial"/>
                <a:ea typeface="Arial"/>
                <a:cs typeface="Arial"/>
                <a:sym typeface="Arial"/>
              </a:rPr>
              <a:t>- validates all definitions</a:t>
            </a:r>
            <a:endParaRPr/>
          </a:p>
          <a:p>
            <a:pPr indent="0" lvl="0" marL="0" marR="0" rtl="0" algn="l">
              <a:spcBef>
                <a:spcPts val="0"/>
              </a:spcBef>
              <a:spcAft>
                <a:spcPts val="0"/>
              </a:spcAft>
              <a:buNone/>
            </a:pPr>
            <a:br>
              <a:rPr lang="en-US" sz="1600">
                <a:solidFill>
                  <a:schemeClr val="dk1"/>
                </a:solidFill>
                <a:latin typeface="Arial"/>
                <a:ea typeface="Arial"/>
                <a:cs typeface="Arial"/>
                <a:sym typeface="Arial"/>
              </a:rPr>
            </a:b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en-US" sz="1600">
                <a:solidFill>
                  <a:schemeClr val="dk1"/>
                </a:solidFill>
                <a:latin typeface="Arial"/>
                <a:ea typeface="Arial"/>
                <a:cs typeface="Arial"/>
                <a:sym typeface="Arial"/>
              </a:rPr>
              <a:t>databricks bundle deploy </a:t>
            </a:r>
            <a:r>
              <a:rPr lang="en-US" sz="1600">
                <a:solidFill>
                  <a:schemeClr val="dk1"/>
                </a:solidFill>
                <a:latin typeface="Arial"/>
                <a:ea typeface="Arial"/>
                <a:cs typeface="Arial"/>
                <a:sym typeface="Arial"/>
              </a:rPr>
              <a:t>- deploys the bundle</a:t>
            </a:r>
            <a:endParaRPr/>
          </a:p>
          <a:p>
            <a:pPr indent="0" lvl="0" marL="0" marR="0" rtl="0" algn="l">
              <a:spcBef>
                <a:spcPts val="0"/>
              </a:spcBef>
              <a:spcAft>
                <a:spcPts val="0"/>
              </a:spcAft>
              <a:buNone/>
            </a:pPr>
            <a:br>
              <a:rPr lang="en-US" sz="1600">
                <a:solidFill>
                  <a:schemeClr val="dk1"/>
                </a:solidFill>
                <a:latin typeface="Arial"/>
                <a:ea typeface="Arial"/>
                <a:cs typeface="Arial"/>
                <a:sym typeface="Arial"/>
              </a:rPr>
            </a:b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en-US" sz="1600">
                <a:solidFill>
                  <a:schemeClr val="dk1"/>
                </a:solidFill>
                <a:latin typeface="Arial"/>
                <a:ea typeface="Arial"/>
                <a:cs typeface="Arial"/>
                <a:sym typeface="Arial"/>
              </a:rPr>
              <a:t>databricks bundle run &lt;job name&gt;</a:t>
            </a:r>
            <a:r>
              <a:rPr lang="en-US" sz="1600">
                <a:solidFill>
                  <a:schemeClr val="dk1"/>
                </a:solidFill>
                <a:latin typeface="Arial"/>
                <a:ea typeface="Arial"/>
                <a:cs typeface="Arial"/>
                <a:sym typeface="Arial"/>
              </a:rPr>
              <a:t>- runs the job</a:t>
            </a:r>
            <a:endParaRPr/>
          </a:p>
          <a:p>
            <a:pPr indent="0" lvl="0" marL="0" marR="0" rtl="0" algn="l">
              <a:spcBef>
                <a:spcPts val="0"/>
              </a:spcBef>
              <a:spcAft>
                <a:spcPts val="0"/>
              </a:spcAft>
              <a:buNone/>
            </a:pPr>
            <a:br>
              <a:rPr lang="en-US" sz="1600">
                <a:solidFill>
                  <a:schemeClr val="dk1"/>
                </a:solidFill>
                <a:latin typeface="Arial"/>
                <a:ea typeface="Arial"/>
                <a:cs typeface="Arial"/>
                <a:sym typeface="Arial"/>
              </a:rPr>
            </a:b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en-US" sz="1600">
                <a:solidFill>
                  <a:schemeClr val="dk1"/>
                </a:solidFill>
                <a:latin typeface="Arial"/>
                <a:ea typeface="Arial"/>
                <a:cs typeface="Arial"/>
                <a:sym typeface="Arial"/>
              </a:rPr>
              <a:t>databricks bundle destroy </a:t>
            </a:r>
            <a:r>
              <a:rPr lang="en-US" sz="1600">
                <a:solidFill>
                  <a:schemeClr val="dk1"/>
                </a:solidFill>
                <a:latin typeface="Arial"/>
                <a:ea typeface="Arial"/>
                <a:cs typeface="Arial"/>
                <a:sym typeface="Arial"/>
              </a:rPr>
              <a:t>- destroys all resources specified in the bundle</a:t>
            </a:r>
            <a:endParaRPr/>
          </a:p>
          <a:p>
            <a:pPr indent="0" lvl="0" marL="0" marR="0" rtl="0" algn="l">
              <a:spcBef>
                <a:spcPts val="0"/>
              </a:spcBef>
              <a:spcAft>
                <a:spcPts val="0"/>
              </a:spcAft>
              <a:buNone/>
            </a:pPr>
            <a:r>
              <a:t/>
            </a:r>
            <a:endParaRPr b="1" sz="16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pic>
        <p:nvPicPr>
          <p:cNvPr descr="/sessions/nifty-pensive-fermi/kickoff_unpacked/ppt/media/image1.png" id="134" name="Google Shape;134;p10"/>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135" name="Google Shape;135;p10"/>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10"/>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Databricks Foundation Models</a:t>
            </a:r>
            <a:endParaRPr sz="2000">
              <a:solidFill>
                <a:schemeClr val="dk1"/>
              </a:solidFill>
              <a:latin typeface="Arial"/>
              <a:ea typeface="Arial"/>
              <a:cs typeface="Arial"/>
              <a:sym typeface="Arial"/>
            </a:endParaRPr>
          </a:p>
        </p:txBody>
      </p:sp>
      <p:sp>
        <p:nvSpPr>
          <p:cNvPr id="137" name="Google Shape;137;p10"/>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The architecture of LLM systems on Databricks</a:t>
            </a:r>
            <a:endParaRPr sz="1300">
              <a:solidFill>
                <a:schemeClr val="dk1"/>
              </a:solidFill>
              <a:latin typeface="Calibri"/>
              <a:ea typeface="Calibri"/>
              <a:cs typeface="Calibri"/>
              <a:sym typeface="Calibri"/>
            </a:endParaRPr>
          </a:p>
        </p:txBody>
      </p:sp>
      <p:pic>
        <p:nvPicPr>
          <p:cNvPr descr="/sessions/nifty-pensive-fermi/lecture1_unpacked/ppt/media/image3.png" id="138" name="Google Shape;138;p10"/>
          <p:cNvPicPr preferRelativeResize="0"/>
          <p:nvPr/>
        </p:nvPicPr>
        <p:blipFill rotWithShape="1">
          <a:blip r:embed="rId4">
            <a:alphaModFix/>
          </a:blip>
          <a:srcRect b="0" l="0" r="0" t="0"/>
          <a:stretch/>
        </p:blipFill>
        <p:spPr>
          <a:xfrm>
            <a:off x="1719384" y="1188720"/>
            <a:ext cx="5778695" cy="3726180"/>
          </a:xfrm>
          <a:prstGeom prst="rect">
            <a:avLst/>
          </a:prstGeom>
          <a:noFill/>
          <a:ln>
            <a:noFill/>
          </a:ln>
        </p:spPr>
      </p:pic>
      <p:sp>
        <p:nvSpPr>
          <p:cNvPr id="139" name="Google Shape;139;p10"/>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pic>
        <p:nvPicPr>
          <p:cNvPr descr="/sessions/nifty-pensive-fermi/kickoff_unpacked/ppt/media/image1.png" id="145" name="Google Shape;145;p11"/>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146" name="Google Shape;146;p11"/>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1"/>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Unified API</a:t>
            </a:r>
            <a:endParaRPr sz="2000">
              <a:solidFill>
                <a:schemeClr val="dk1"/>
              </a:solidFill>
              <a:latin typeface="Arial"/>
              <a:ea typeface="Arial"/>
              <a:cs typeface="Arial"/>
              <a:sym typeface="Arial"/>
            </a:endParaRPr>
          </a:p>
        </p:txBody>
      </p:sp>
      <p:sp>
        <p:nvSpPr>
          <p:cNvPr id="148" name="Google Shape;148;p11"/>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Mosaic AI Model Serving (OpenAI-compatible API)</a:t>
            </a:r>
            <a:endParaRPr sz="1300">
              <a:solidFill>
                <a:schemeClr val="dk1"/>
              </a:solidFill>
              <a:latin typeface="Calibri"/>
              <a:ea typeface="Calibri"/>
              <a:cs typeface="Calibri"/>
              <a:sym typeface="Calibri"/>
            </a:endParaRPr>
          </a:p>
        </p:txBody>
      </p:sp>
      <p:sp>
        <p:nvSpPr>
          <p:cNvPr id="149" name="Google Shape;149;p11"/>
          <p:cNvSpPr/>
          <p:nvPr/>
        </p:nvSpPr>
        <p:spPr>
          <a:xfrm>
            <a:off x="457200" y="1234440"/>
            <a:ext cx="3977640" cy="201168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11"/>
          <p:cNvSpPr/>
          <p:nvPr/>
        </p:nvSpPr>
        <p:spPr>
          <a:xfrm>
            <a:off x="457200" y="1234440"/>
            <a:ext cx="39776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11"/>
          <p:cNvSpPr/>
          <p:nvPr/>
        </p:nvSpPr>
        <p:spPr>
          <a:xfrm>
            <a:off x="685800" y="1417320"/>
            <a:ext cx="3520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BENEFITS</a:t>
            </a:r>
            <a:endParaRPr sz="900">
              <a:solidFill>
                <a:schemeClr val="dk1"/>
              </a:solidFill>
              <a:latin typeface="Calibri"/>
              <a:ea typeface="Calibri"/>
              <a:cs typeface="Calibri"/>
              <a:sym typeface="Calibri"/>
            </a:endParaRPr>
          </a:p>
        </p:txBody>
      </p:sp>
      <p:sp>
        <p:nvSpPr>
          <p:cNvPr id="152" name="Google Shape;152;p11"/>
          <p:cNvSpPr/>
          <p:nvPr/>
        </p:nvSpPr>
        <p:spPr>
          <a:xfrm>
            <a:off x="685800" y="1691640"/>
            <a:ext cx="3520440" cy="14173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Same code works across all hosting options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Easy to switch between models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Use OpenAI SDK directly</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Simplified evaluation and fallback strategies</a:t>
            </a:r>
            <a:endParaRPr sz="1100">
              <a:solidFill>
                <a:schemeClr val="dk1"/>
              </a:solidFill>
              <a:latin typeface="Calibri"/>
              <a:ea typeface="Calibri"/>
              <a:cs typeface="Calibri"/>
              <a:sym typeface="Calibri"/>
            </a:endParaRPr>
          </a:p>
        </p:txBody>
      </p:sp>
      <p:sp>
        <p:nvSpPr>
          <p:cNvPr id="153" name="Google Shape;153;p11"/>
          <p:cNvSpPr/>
          <p:nvPr/>
        </p:nvSpPr>
        <p:spPr>
          <a:xfrm>
            <a:off x="4617720" y="1234440"/>
            <a:ext cx="3977640" cy="201168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11"/>
          <p:cNvSpPr/>
          <p:nvPr/>
        </p:nvSpPr>
        <p:spPr>
          <a:xfrm>
            <a:off x="4617720" y="1234440"/>
            <a:ext cx="39776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11"/>
          <p:cNvSpPr/>
          <p:nvPr/>
        </p:nvSpPr>
        <p:spPr>
          <a:xfrm>
            <a:off x="4846320" y="1417320"/>
            <a:ext cx="35204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SUPPORTED ENDPOINTS</a:t>
            </a:r>
            <a:endParaRPr sz="900">
              <a:solidFill>
                <a:schemeClr val="dk1"/>
              </a:solidFill>
              <a:latin typeface="Calibri"/>
              <a:ea typeface="Calibri"/>
              <a:cs typeface="Calibri"/>
              <a:sym typeface="Calibri"/>
            </a:endParaRPr>
          </a:p>
        </p:txBody>
      </p:sp>
      <p:sp>
        <p:nvSpPr>
          <p:cNvPr id="156" name="Google Shape;156;p11"/>
          <p:cNvSpPr/>
          <p:nvPr/>
        </p:nvSpPr>
        <p:spPr>
          <a:xfrm>
            <a:off x="4846320" y="1691640"/>
            <a:ext cx="3520440" cy="14173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llm/v1/chat → Chat Completions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llm/v1/embeddings → Embeddings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llm/v1/completions → Legacy Completions</a:t>
            </a:r>
            <a:endParaRPr sz="1100">
              <a:solidFill>
                <a:schemeClr val="dk1"/>
              </a:solidFill>
              <a:latin typeface="Calibri"/>
              <a:ea typeface="Calibri"/>
              <a:cs typeface="Calibri"/>
              <a:sym typeface="Calibri"/>
            </a:endParaRPr>
          </a:p>
        </p:txBody>
      </p:sp>
      <p:sp>
        <p:nvSpPr>
          <p:cNvPr id="157" name="Google Shape;157;p11"/>
          <p:cNvSpPr/>
          <p:nvPr/>
        </p:nvSpPr>
        <p:spPr>
          <a:xfrm>
            <a:off x="457200" y="3474720"/>
            <a:ext cx="8138160" cy="1097280"/>
          </a:xfrm>
          <a:prstGeom prst="rect">
            <a:avLst/>
          </a:prstGeom>
          <a:solidFill>
            <a:srgbClr val="3C3C3C"/>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11"/>
          <p:cNvSpPr/>
          <p:nvPr/>
        </p:nvSpPr>
        <p:spPr>
          <a:xfrm>
            <a:off x="777240" y="3584448"/>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KEY INSIGHT</a:t>
            </a:r>
            <a:endParaRPr sz="900">
              <a:solidFill>
                <a:schemeClr val="dk1"/>
              </a:solidFill>
              <a:latin typeface="Calibri"/>
              <a:ea typeface="Calibri"/>
              <a:cs typeface="Calibri"/>
              <a:sym typeface="Calibri"/>
            </a:endParaRPr>
          </a:p>
        </p:txBody>
      </p:sp>
      <p:sp>
        <p:nvSpPr>
          <p:cNvPr id="159" name="Google Shape;159;p11"/>
          <p:cNvSpPr/>
          <p:nvPr/>
        </p:nvSpPr>
        <p:spPr>
          <a:xfrm>
            <a:off x="777240" y="384048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1" lang="en-US" sz="1600">
                <a:solidFill>
                  <a:srgbClr val="FFFFFF"/>
                </a:solidFill>
                <a:latin typeface="Georgia"/>
                <a:ea typeface="Georgia"/>
                <a:cs typeface="Georgia"/>
                <a:sym typeface="Georgia"/>
              </a:rPr>
              <a:t>All models use the same OpenAI-compatible API interface</a:t>
            </a:r>
            <a:endParaRPr sz="1600">
              <a:solidFill>
                <a:schemeClr val="dk1"/>
              </a:solidFill>
              <a:latin typeface="Calibri"/>
              <a:ea typeface="Calibri"/>
              <a:cs typeface="Calibri"/>
              <a:sym typeface="Calibri"/>
            </a:endParaRPr>
          </a:p>
        </p:txBody>
      </p:sp>
      <p:sp>
        <p:nvSpPr>
          <p:cNvPr id="160" name="Google Shape;160;p11"/>
          <p:cNvSpPr/>
          <p:nvPr/>
        </p:nvSpPr>
        <p:spPr>
          <a:xfrm>
            <a:off x="777240" y="4160520"/>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100"/>
              <a:buFont typeface="Calibri"/>
              <a:buNone/>
            </a:pPr>
            <a:r>
              <a:rPr lang="en-US" sz="1100">
                <a:solidFill>
                  <a:srgbClr val="999999"/>
                </a:solidFill>
                <a:latin typeface="Calibri"/>
                <a:ea typeface="Calibri"/>
                <a:cs typeface="Calibri"/>
                <a:sym typeface="Calibri"/>
              </a:rPr>
              <a:t>Switch between models just by changing the model name parameter.</a:t>
            </a:r>
            <a:endParaRPr sz="1100">
              <a:solidFill>
                <a:schemeClr val="dk1"/>
              </a:solidFill>
              <a:latin typeface="Calibri"/>
              <a:ea typeface="Calibri"/>
              <a:cs typeface="Calibri"/>
              <a:sym typeface="Calibri"/>
            </a:endParaRPr>
          </a:p>
        </p:txBody>
      </p:sp>
      <p:sp>
        <p:nvSpPr>
          <p:cNvPr id="161" name="Google Shape;161;p11"/>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pic>
        <p:nvPicPr>
          <p:cNvPr descr="/sessions/nifty-pensive-fermi/kickoff_unpacked/ppt/media/image1.png" id="167" name="Google Shape;167;p12"/>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168" name="Google Shape;168;p12"/>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2"/>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AI Gateway Benefits</a:t>
            </a:r>
            <a:endParaRPr sz="2000">
              <a:solidFill>
                <a:schemeClr val="dk1"/>
              </a:solidFill>
              <a:latin typeface="Arial"/>
              <a:ea typeface="Arial"/>
              <a:cs typeface="Arial"/>
              <a:sym typeface="Arial"/>
            </a:endParaRPr>
          </a:p>
        </p:txBody>
      </p:sp>
      <p:sp>
        <p:nvSpPr>
          <p:cNvPr id="170" name="Google Shape;170;p12"/>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Governance capabilities between your application and models</a:t>
            </a:r>
            <a:endParaRPr sz="1300">
              <a:solidFill>
                <a:schemeClr val="dk1"/>
              </a:solidFill>
              <a:latin typeface="Calibri"/>
              <a:ea typeface="Calibri"/>
              <a:cs typeface="Calibri"/>
              <a:sym typeface="Calibri"/>
            </a:endParaRPr>
          </a:p>
        </p:txBody>
      </p:sp>
      <p:sp>
        <p:nvSpPr>
          <p:cNvPr id="171" name="Google Shape;171;p12"/>
          <p:cNvSpPr/>
          <p:nvPr/>
        </p:nvSpPr>
        <p:spPr>
          <a:xfrm>
            <a:off x="457200" y="1234440"/>
            <a:ext cx="3703320" cy="16002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12"/>
          <p:cNvSpPr/>
          <p:nvPr/>
        </p:nvSpPr>
        <p:spPr>
          <a:xfrm>
            <a:off x="457200" y="1234440"/>
            <a:ext cx="370332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2"/>
          <p:cNvSpPr/>
          <p:nvPr/>
        </p:nvSpPr>
        <p:spPr>
          <a:xfrm>
            <a:off x="685800" y="1417320"/>
            <a:ext cx="3246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USAGE TRACKING</a:t>
            </a:r>
            <a:endParaRPr sz="900">
              <a:solidFill>
                <a:schemeClr val="dk1"/>
              </a:solidFill>
              <a:latin typeface="Calibri"/>
              <a:ea typeface="Calibri"/>
              <a:cs typeface="Calibri"/>
              <a:sym typeface="Calibri"/>
            </a:endParaRPr>
          </a:p>
        </p:txBody>
      </p:sp>
      <p:sp>
        <p:nvSpPr>
          <p:cNvPr id="174" name="Google Shape;174;p12"/>
          <p:cNvSpPr/>
          <p:nvPr/>
        </p:nvSpPr>
        <p:spPr>
          <a:xfrm>
            <a:off x="685800" y="1691640"/>
            <a:ext cx="324612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Monitor token consumption</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Track costs per user/team</a:t>
            </a:r>
            <a:endParaRPr sz="1100">
              <a:solidFill>
                <a:schemeClr val="dk1"/>
              </a:solidFill>
              <a:latin typeface="Calibri"/>
              <a:ea typeface="Calibri"/>
              <a:cs typeface="Calibri"/>
              <a:sym typeface="Calibri"/>
            </a:endParaRPr>
          </a:p>
        </p:txBody>
      </p:sp>
      <p:sp>
        <p:nvSpPr>
          <p:cNvPr id="175" name="Google Shape;175;p12"/>
          <p:cNvSpPr/>
          <p:nvPr/>
        </p:nvSpPr>
        <p:spPr>
          <a:xfrm>
            <a:off x="4617720" y="1234440"/>
            <a:ext cx="3703320" cy="16002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12"/>
          <p:cNvSpPr/>
          <p:nvPr/>
        </p:nvSpPr>
        <p:spPr>
          <a:xfrm>
            <a:off x="4617720" y="1234440"/>
            <a:ext cx="370332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2"/>
          <p:cNvSpPr/>
          <p:nvPr/>
        </p:nvSpPr>
        <p:spPr>
          <a:xfrm>
            <a:off x="4846320" y="1417320"/>
            <a:ext cx="3246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TRAFFIC MANAGEMENT</a:t>
            </a:r>
            <a:endParaRPr sz="900">
              <a:solidFill>
                <a:schemeClr val="dk1"/>
              </a:solidFill>
              <a:latin typeface="Calibri"/>
              <a:ea typeface="Calibri"/>
              <a:cs typeface="Calibri"/>
              <a:sym typeface="Calibri"/>
            </a:endParaRPr>
          </a:p>
        </p:txBody>
      </p:sp>
      <p:sp>
        <p:nvSpPr>
          <p:cNvPr id="178" name="Google Shape;178;p12"/>
          <p:cNvSpPr/>
          <p:nvPr/>
        </p:nvSpPr>
        <p:spPr>
          <a:xfrm>
            <a:off x="4846320" y="1691640"/>
            <a:ext cx="324612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Rate limiting</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Load balancing</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Fallback strategies</a:t>
            </a:r>
            <a:endParaRPr sz="1100">
              <a:solidFill>
                <a:schemeClr val="dk1"/>
              </a:solidFill>
              <a:latin typeface="Calibri"/>
              <a:ea typeface="Calibri"/>
              <a:cs typeface="Calibri"/>
              <a:sym typeface="Calibri"/>
            </a:endParaRPr>
          </a:p>
        </p:txBody>
      </p:sp>
      <p:sp>
        <p:nvSpPr>
          <p:cNvPr id="179" name="Google Shape;179;p12"/>
          <p:cNvSpPr/>
          <p:nvPr/>
        </p:nvSpPr>
        <p:spPr>
          <a:xfrm>
            <a:off x="457200" y="3017520"/>
            <a:ext cx="3703320" cy="16002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12"/>
          <p:cNvSpPr/>
          <p:nvPr/>
        </p:nvSpPr>
        <p:spPr>
          <a:xfrm>
            <a:off x="457200" y="3017520"/>
            <a:ext cx="370332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2"/>
          <p:cNvSpPr/>
          <p:nvPr/>
        </p:nvSpPr>
        <p:spPr>
          <a:xfrm>
            <a:off x="685800" y="3200400"/>
            <a:ext cx="3246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PAYLOAD LOGGING</a:t>
            </a:r>
            <a:endParaRPr sz="900">
              <a:solidFill>
                <a:schemeClr val="dk1"/>
              </a:solidFill>
              <a:latin typeface="Calibri"/>
              <a:ea typeface="Calibri"/>
              <a:cs typeface="Calibri"/>
              <a:sym typeface="Calibri"/>
            </a:endParaRPr>
          </a:p>
        </p:txBody>
      </p:sp>
      <p:sp>
        <p:nvSpPr>
          <p:cNvPr id="182" name="Google Shape;182;p12"/>
          <p:cNvSpPr/>
          <p:nvPr/>
        </p:nvSpPr>
        <p:spPr>
          <a:xfrm>
            <a:off x="685800" y="3474720"/>
            <a:ext cx="324612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Log all requests/responses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Debug and audit capabilities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Collect fine-tuning data</a:t>
            </a:r>
            <a:endParaRPr sz="1100">
              <a:solidFill>
                <a:schemeClr val="dk1"/>
              </a:solidFill>
              <a:latin typeface="Calibri"/>
              <a:ea typeface="Calibri"/>
              <a:cs typeface="Calibri"/>
              <a:sym typeface="Calibri"/>
            </a:endParaRPr>
          </a:p>
        </p:txBody>
      </p:sp>
      <p:sp>
        <p:nvSpPr>
          <p:cNvPr id="183" name="Google Shape;183;p12"/>
          <p:cNvSpPr/>
          <p:nvPr/>
        </p:nvSpPr>
        <p:spPr>
          <a:xfrm>
            <a:off x="4617720" y="3017520"/>
            <a:ext cx="3703320" cy="16002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2"/>
          <p:cNvSpPr/>
          <p:nvPr/>
        </p:nvSpPr>
        <p:spPr>
          <a:xfrm>
            <a:off x="4617720" y="3017520"/>
            <a:ext cx="370332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12"/>
          <p:cNvSpPr/>
          <p:nvPr/>
        </p:nvSpPr>
        <p:spPr>
          <a:xfrm>
            <a:off x="4846320" y="3200400"/>
            <a:ext cx="3246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AI GUARDRAILS</a:t>
            </a:r>
            <a:endParaRPr sz="900">
              <a:solidFill>
                <a:schemeClr val="dk1"/>
              </a:solidFill>
              <a:latin typeface="Calibri"/>
              <a:ea typeface="Calibri"/>
              <a:cs typeface="Calibri"/>
              <a:sym typeface="Calibri"/>
            </a:endParaRPr>
          </a:p>
        </p:txBody>
      </p:sp>
      <p:sp>
        <p:nvSpPr>
          <p:cNvPr id="186" name="Google Shape;186;p12"/>
          <p:cNvSpPr/>
          <p:nvPr/>
        </p:nvSpPr>
        <p:spPr>
          <a:xfrm>
            <a:off x="4846320" y="3474720"/>
            <a:ext cx="324612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PII detection and masking</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Content filtering</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Input/output validation</a:t>
            </a:r>
            <a:endParaRPr sz="1100">
              <a:solidFill>
                <a:schemeClr val="dk1"/>
              </a:solidFill>
              <a:latin typeface="Calibri"/>
              <a:ea typeface="Calibri"/>
              <a:cs typeface="Calibri"/>
              <a:sym typeface="Calibri"/>
            </a:endParaRPr>
          </a:p>
        </p:txBody>
      </p:sp>
      <p:sp>
        <p:nvSpPr>
          <p:cNvPr id="187" name="Google Shape;187;p12"/>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pic>
        <p:nvPicPr>
          <p:cNvPr descr="/sessions/nifty-pensive-fermi/kickoff_unpacked/ppt/media/image1.png" id="193" name="Google Shape;193;p13"/>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194" name="Google Shape;194;p13"/>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3"/>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Databricks Hosted Models</a:t>
            </a:r>
            <a:endParaRPr sz="2000">
              <a:solidFill>
                <a:schemeClr val="dk1"/>
              </a:solidFill>
              <a:latin typeface="Arial"/>
              <a:ea typeface="Arial"/>
              <a:cs typeface="Arial"/>
              <a:sym typeface="Arial"/>
            </a:endParaRPr>
          </a:p>
        </p:txBody>
      </p:sp>
      <p:sp>
        <p:nvSpPr>
          <p:cNvPr id="196" name="Google Shape;196;p13"/>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Pay-per-token foundation model APIs</a:t>
            </a:r>
            <a:endParaRPr sz="1300">
              <a:solidFill>
                <a:schemeClr val="dk1"/>
              </a:solidFill>
              <a:latin typeface="Calibri"/>
              <a:ea typeface="Calibri"/>
              <a:cs typeface="Calibri"/>
              <a:sym typeface="Calibri"/>
            </a:endParaRPr>
          </a:p>
        </p:txBody>
      </p:sp>
      <p:sp>
        <p:nvSpPr>
          <p:cNvPr id="197" name="Google Shape;197;p13"/>
          <p:cNvSpPr/>
          <p:nvPr/>
        </p:nvSpPr>
        <p:spPr>
          <a:xfrm>
            <a:off x="457200" y="1234440"/>
            <a:ext cx="2606040" cy="237744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3"/>
          <p:cNvSpPr/>
          <p:nvPr/>
        </p:nvSpPr>
        <p:spPr>
          <a:xfrm>
            <a:off x="457200"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3"/>
          <p:cNvSpPr/>
          <p:nvPr/>
        </p:nvSpPr>
        <p:spPr>
          <a:xfrm>
            <a:off x="685800"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BEST FOR</a:t>
            </a:r>
            <a:endParaRPr sz="900">
              <a:solidFill>
                <a:schemeClr val="dk1"/>
              </a:solidFill>
              <a:latin typeface="Calibri"/>
              <a:ea typeface="Calibri"/>
              <a:cs typeface="Calibri"/>
              <a:sym typeface="Calibri"/>
            </a:endParaRPr>
          </a:p>
        </p:txBody>
      </p:sp>
      <p:sp>
        <p:nvSpPr>
          <p:cNvPr id="200" name="Google Shape;200;p13"/>
          <p:cNvSpPr/>
          <p:nvPr/>
        </p:nvSpPr>
        <p:spPr>
          <a:xfrm>
            <a:off x="685800" y="1691640"/>
            <a:ext cx="2148840" cy="1783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Experimentation and exploration</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Development and testing</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Low-volume production workloads</a:t>
            </a:r>
            <a:endParaRPr sz="1100">
              <a:solidFill>
                <a:schemeClr val="dk1"/>
              </a:solidFill>
              <a:latin typeface="Calibri"/>
              <a:ea typeface="Calibri"/>
              <a:cs typeface="Calibri"/>
              <a:sym typeface="Calibri"/>
            </a:endParaRPr>
          </a:p>
        </p:txBody>
      </p:sp>
      <p:sp>
        <p:nvSpPr>
          <p:cNvPr id="201" name="Google Shape;201;p13"/>
          <p:cNvSpPr/>
          <p:nvPr/>
        </p:nvSpPr>
        <p:spPr>
          <a:xfrm>
            <a:off x="3264408" y="1234440"/>
            <a:ext cx="2606040" cy="237744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13"/>
          <p:cNvSpPr/>
          <p:nvPr/>
        </p:nvSpPr>
        <p:spPr>
          <a:xfrm>
            <a:off x="3264408"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3"/>
          <p:cNvSpPr/>
          <p:nvPr/>
        </p:nvSpPr>
        <p:spPr>
          <a:xfrm>
            <a:off x="3493008"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CHARACTERISTICS</a:t>
            </a:r>
            <a:endParaRPr sz="900">
              <a:solidFill>
                <a:schemeClr val="dk1"/>
              </a:solidFill>
              <a:latin typeface="Calibri"/>
              <a:ea typeface="Calibri"/>
              <a:cs typeface="Calibri"/>
              <a:sym typeface="Calibri"/>
            </a:endParaRPr>
          </a:p>
        </p:txBody>
      </p:sp>
      <p:sp>
        <p:nvSpPr>
          <p:cNvPr id="204" name="Google Shape;204;p13"/>
          <p:cNvSpPr/>
          <p:nvPr/>
        </p:nvSpPr>
        <p:spPr>
          <a:xfrm>
            <a:off x="3493008" y="1691640"/>
            <a:ext cx="2148840" cy="1783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No infrastructure setup required</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Pay only for tokens used</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Subject to workspace rate limits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Availability varies by cloud provider/region</a:t>
            </a:r>
            <a:endParaRPr sz="1100">
              <a:solidFill>
                <a:schemeClr val="dk1"/>
              </a:solidFill>
              <a:latin typeface="Calibri"/>
              <a:ea typeface="Calibri"/>
              <a:cs typeface="Calibri"/>
              <a:sym typeface="Calibri"/>
            </a:endParaRPr>
          </a:p>
        </p:txBody>
      </p:sp>
      <p:sp>
        <p:nvSpPr>
          <p:cNvPr id="205" name="Google Shape;205;p13"/>
          <p:cNvSpPr/>
          <p:nvPr/>
        </p:nvSpPr>
        <p:spPr>
          <a:xfrm>
            <a:off x="6071616" y="1234440"/>
            <a:ext cx="2606040" cy="237744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13"/>
          <p:cNvSpPr/>
          <p:nvPr/>
        </p:nvSpPr>
        <p:spPr>
          <a:xfrm>
            <a:off x="6071616"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3"/>
          <p:cNvSpPr/>
          <p:nvPr/>
        </p:nvSpPr>
        <p:spPr>
          <a:xfrm>
            <a:off x="6300216"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RATE LIMITS</a:t>
            </a:r>
            <a:endParaRPr sz="900">
              <a:solidFill>
                <a:schemeClr val="dk1"/>
              </a:solidFill>
              <a:latin typeface="Calibri"/>
              <a:ea typeface="Calibri"/>
              <a:cs typeface="Calibri"/>
              <a:sym typeface="Calibri"/>
            </a:endParaRPr>
          </a:p>
        </p:txBody>
      </p:sp>
      <p:sp>
        <p:nvSpPr>
          <p:cNvPr id="208" name="Google Shape;208;p13"/>
          <p:cNvSpPr/>
          <p:nvPr/>
        </p:nvSpPr>
        <p:spPr>
          <a:xfrm>
            <a:off x="6300216" y="1691640"/>
            <a:ext cx="2148840" cy="1783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Input/output tokens per hour</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Queries per hour</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Most restrictive limit applies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429 error when limit reached</a:t>
            </a:r>
            <a:endParaRPr sz="1100">
              <a:solidFill>
                <a:schemeClr val="dk1"/>
              </a:solidFill>
              <a:latin typeface="Calibri"/>
              <a:ea typeface="Calibri"/>
              <a:cs typeface="Calibri"/>
              <a:sym typeface="Calibri"/>
            </a:endParaRPr>
          </a:p>
        </p:txBody>
      </p:sp>
      <p:sp>
        <p:nvSpPr>
          <p:cNvPr id="209" name="Google Shape;209;p13"/>
          <p:cNvSpPr/>
          <p:nvPr/>
        </p:nvSpPr>
        <p:spPr>
          <a:xfrm>
            <a:off x="457200" y="3840480"/>
            <a:ext cx="8138160" cy="822960"/>
          </a:xfrm>
          <a:prstGeom prst="rect">
            <a:avLst/>
          </a:prstGeom>
          <a:solidFill>
            <a:srgbClr val="3C3C3C"/>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3"/>
          <p:cNvSpPr/>
          <p:nvPr/>
        </p:nvSpPr>
        <p:spPr>
          <a:xfrm>
            <a:off x="777240" y="3913632"/>
            <a:ext cx="6400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ZERO SETUP</a:t>
            </a:r>
            <a:endParaRPr sz="900">
              <a:solidFill>
                <a:schemeClr val="dk1"/>
              </a:solidFill>
              <a:latin typeface="Calibri"/>
              <a:ea typeface="Calibri"/>
              <a:cs typeface="Calibri"/>
              <a:sym typeface="Calibri"/>
            </a:endParaRPr>
          </a:p>
        </p:txBody>
      </p:sp>
      <p:sp>
        <p:nvSpPr>
          <p:cNvPr id="211" name="Google Shape;211;p13"/>
          <p:cNvSpPr/>
          <p:nvPr/>
        </p:nvSpPr>
        <p:spPr>
          <a:xfrm>
            <a:off x="777240" y="4133088"/>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lang="en-US" sz="1400">
                <a:solidFill>
                  <a:srgbClr val="FFFFFF"/>
                </a:solidFill>
                <a:latin typeface="Georgia"/>
                <a:ea typeface="Georgia"/>
                <a:cs typeface="Georgia"/>
                <a:sym typeface="Georgia"/>
              </a:rPr>
              <a:t>Start making API calls immediately — no infrastructure provisioning required</a:t>
            </a:r>
            <a:endParaRPr sz="1400">
              <a:solidFill>
                <a:schemeClr val="dk1"/>
              </a:solidFill>
              <a:latin typeface="Calibri"/>
              <a:ea typeface="Calibri"/>
              <a:cs typeface="Calibri"/>
              <a:sym typeface="Calibri"/>
            </a:endParaRPr>
          </a:p>
        </p:txBody>
      </p:sp>
      <p:sp>
        <p:nvSpPr>
          <p:cNvPr id="212" name="Google Shape;212;p13"/>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7" name="Shape 217"/>
        <p:cNvGrpSpPr/>
        <p:nvPr/>
      </p:nvGrpSpPr>
      <p:grpSpPr>
        <a:xfrm>
          <a:off x="0" y="0"/>
          <a:ext cx="0" cy="0"/>
          <a:chOff x="0" y="0"/>
          <a:chExt cx="0" cy="0"/>
        </a:xfrm>
      </p:grpSpPr>
      <p:pic>
        <p:nvPicPr>
          <p:cNvPr descr="/sessions/nifty-pensive-fermi/kickoff_unpacked/ppt/media/image1.png" id="218" name="Google Shape;218;p14"/>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219" name="Google Shape;219;p14"/>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4"/>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Provisioned Throughput</a:t>
            </a:r>
            <a:endParaRPr sz="2000">
              <a:solidFill>
                <a:schemeClr val="dk1"/>
              </a:solidFill>
              <a:latin typeface="Arial"/>
              <a:ea typeface="Arial"/>
              <a:cs typeface="Arial"/>
              <a:sym typeface="Arial"/>
            </a:endParaRPr>
          </a:p>
        </p:txBody>
      </p:sp>
      <p:sp>
        <p:nvSpPr>
          <p:cNvPr id="221" name="Google Shape;221;p14"/>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Production-ready model serving</a:t>
            </a:r>
            <a:endParaRPr sz="1300">
              <a:solidFill>
                <a:schemeClr val="dk1"/>
              </a:solidFill>
              <a:latin typeface="Calibri"/>
              <a:ea typeface="Calibri"/>
              <a:cs typeface="Calibri"/>
              <a:sym typeface="Calibri"/>
            </a:endParaRPr>
          </a:p>
        </p:txBody>
      </p:sp>
      <p:sp>
        <p:nvSpPr>
          <p:cNvPr id="222" name="Google Shape;222;p14"/>
          <p:cNvSpPr/>
          <p:nvPr/>
        </p:nvSpPr>
        <p:spPr>
          <a:xfrm>
            <a:off x="457200" y="1234440"/>
            <a:ext cx="3703320" cy="16002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4"/>
          <p:cNvSpPr/>
          <p:nvPr/>
        </p:nvSpPr>
        <p:spPr>
          <a:xfrm>
            <a:off x="457200" y="1234440"/>
            <a:ext cx="370332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4"/>
          <p:cNvSpPr/>
          <p:nvPr/>
        </p:nvSpPr>
        <p:spPr>
          <a:xfrm>
            <a:off x="685800" y="1417320"/>
            <a:ext cx="3246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WHEN TO USE</a:t>
            </a:r>
            <a:endParaRPr sz="900">
              <a:solidFill>
                <a:schemeClr val="dk1"/>
              </a:solidFill>
              <a:latin typeface="Calibri"/>
              <a:ea typeface="Calibri"/>
              <a:cs typeface="Calibri"/>
              <a:sym typeface="Calibri"/>
            </a:endParaRPr>
          </a:p>
        </p:txBody>
      </p:sp>
      <p:sp>
        <p:nvSpPr>
          <p:cNvPr id="225" name="Google Shape;225;p14"/>
          <p:cNvSpPr/>
          <p:nvPr/>
        </p:nvSpPr>
        <p:spPr>
          <a:xfrm>
            <a:off x="685800" y="1691640"/>
            <a:ext cx="324612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High-volume production workloads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Latency-sensitive applications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Predictable, consistent performance</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Fine-tuned model deployment</a:t>
            </a:r>
            <a:endParaRPr sz="1100">
              <a:solidFill>
                <a:schemeClr val="dk1"/>
              </a:solidFill>
              <a:latin typeface="Calibri"/>
              <a:ea typeface="Calibri"/>
              <a:cs typeface="Calibri"/>
              <a:sym typeface="Calibri"/>
            </a:endParaRPr>
          </a:p>
        </p:txBody>
      </p:sp>
      <p:sp>
        <p:nvSpPr>
          <p:cNvPr id="226" name="Google Shape;226;p14"/>
          <p:cNvSpPr/>
          <p:nvPr/>
        </p:nvSpPr>
        <p:spPr>
          <a:xfrm>
            <a:off x="4617720" y="1234440"/>
            <a:ext cx="3703320" cy="160020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4"/>
          <p:cNvSpPr/>
          <p:nvPr/>
        </p:nvSpPr>
        <p:spPr>
          <a:xfrm>
            <a:off x="4617720" y="1234440"/>
            <a:ext cx="370332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4"/>
          <p:cNvSpPr/>
          <p:nvPr/>
        </p:nvSpPr>
        <p:spPr>
          <a:xfrm>
            <a:off x="4846320" y="1417320"/>
            <a:ext cx="3246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KEY BENEFITS</a:t>
            </a:r>
            <a:endParaRPr sz="900">
              <a:solidFill>
                <a:schemeClr val="dk1"/>
              </a:solidFill>
              <a:latin typeface="Calibri"/>
              <a:ea typeface="Calibri"/>
              <a:cs typeface="Calibri"/>
              <a:sym typeface="Calibri"/>
            </a:endParaRPr>
          </a:p>
        </p:txBody>
      </p:sp>
      <p:sp>
        <p:nvSpPr>
          <p:cNvPr id="229" name="Google Shape;229;p14"/>
          <p:cNvSpPr/>
          <p:nvPr/>
        </p:nvSpPr>
        <p:spPr>
          <a:xfrm>
            <a:off x="4846320" y="1691640"/>
            <a:ext cx="324612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Dedicated capacity</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Performance guarantees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Autoscaling support</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Higher limits than hosted APIs</a:t>
            </a:r>
            <a:endParaRPr sz="1100">
              <a:solidFill>
                <a:schemeClr val="dk1"/>
              </a:solidFill>
              <a:latin typeface="Calibri"/>
              <a:ea typeface="Calibri"/>
              <a:cs typeface="Calibri"/>
              <a:sym typeface="Calibri"/>
            </a:endParaRPr>
          </a:p>
        </p:txBody>
      </p:sp>
      <p:sp>
        <p:nvSpPr>
          <p:cNvPr id="230" name="Google Shape;230;p14"/>
          <p:cNvSpPr/>
          <p:nvPr/>
        </p:nvSpPr>
        <p:spPr>
          <a:xfrm>
            <a:off x="457200" y="3017520"/>
            <a:ext cx="7863840" cy="1463040"/>
          </a:xfrm>
          <a:prstGeom prst="rect">
            <a:avLst/>
          </a:prstGeom>
          <a:solidFill>
            <a:srgbClr val="3C3C3C"/>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4"/>
          <p:cNvSpPr/>
          <p:nvPr/>
        </p:nvSpPr>
        <p:spPr>
          <a:xfrm>
            <a:off x="777240" y="3154680"/>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COST OPTIMIZATION</a:t>
            </a:r>
            <a:endParaRPr sz="900">
              <a:solidFill>
                <a:schemeClr val="dk1"/>
              </a:solidFill>
              <a:latin typeface="Calibri"/>
              <a:ea typeface="Calibri"/>
              <a:cs typeface="Calibri"/>
              <a:sym typeface="Calibri"/>
            </a:endParaRPr>
          </a:p>
        </p:txBody>
      </p:sp>
      <p:sp>
        <p:nvSpPr>
          <p:cNvPr id="232" name="Google Shape;232;p14"/>
          <p:cNvSpPr/>
          <p:nvPr/>
        </p:nvSpPr>
        <p:spPr>
          <a:xfrm>
            <a:off x="777240" y="342900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1" lang="en-US" sz="1600">
                <a:solidFill>
                  <a:srgbClr val="FFFFFF"/>
                </a:solidFill>
                <a:latin typeface="Georgia"/>
                <a:ea typeface="Georgia"/>
                <a:cs typeface="Georgia"/>
                <a:sym typeface="Georgia"/>
              </a:rPr>
              <a:t>Scale-to-zero option available for cost savings</a:t>
            </a:r>
            <a:endParaRPr sz="1600">
              <a:solidFill>
                <a:schemeClr val="dk1"/>
              </a:solidFill>
              <a:latin typeface="Calibri"/>
              <a:ea typeface="Calibri"/>
              <a:cs typeface="Calibri"/>
              <a:sym typeface="Calibri"/>
            </a:endParaRPr>
          </a:p>
        </p:txBody>
      </p:sp>
      <p:sp>
        <p:nvSpPr>
          <p:cNvPr id="233" name="Google Shape;233;p14"/>
          <p:cNvSpPr/>
          <p:nvPr/>
        </p:nvSpPr>
        <p:spPr>
          <a:xfrm>
            <a:off x="777240" y="379476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100"/>
              <a:buFont typeface="Calibri"/>
              <a:buNone/>
            </a:pPr>
            <a:r>
              <a:rPr lang="en-US" sz="1100">
                <a:solidFill>
                  <a:srgbClr val="999999"/>
                </a:solidFill>
                <a:latin typeface="Calibri"/>
                <a:ea typeface="Calibri"/>
                <a:cs typeface="Calibri"/>
                <a:sym typeface="Calibri"/>
              </a:rPr>
              <a:t>Not recommended for critical production systems, but great for development and staging environments.</a:t>
            </a:r>
            <a:endParaRPr sz="1100">
              <a:solidFill>
                <a:schemeClr val="dk1"/>
              </a:solidFill>
              <a:latin typeface="Calibri"/>
              <a:ea typeface="Calibri"/>
              <a:cs typeface="Calibri"/>
              <a:sym typeface="Calibri"/>
            </a:endParaRPr>
          </a:p>
        </p:txBody>
      </p:sp>
      <p:sp>
        <p:nvSpPr>
          <p:cNvPr id="234" name="Google Shape;234;p14"/>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9" name="Shape 239"/>
        <p:cNvGrpSpPr/>
        <p:nvPr/>
      </p:nvGrpSpPr>
      <p:grpSpPr>
        <a:xfrm>
          <a:off x="0" y="0"/>
          <a:ext cx="0" cy="0"/>
          <a:chOff x="0" y="0"/>
          <a:chExt cx="0" cy="0"/>
        </a:xfrm>
      </p:grpSpPr>
      <p:pic>
        <p:nvPicPr>
          <p:cNvPr descr="/sessions/nifty-pensive-fermi/kickoff_unpacked/ppt/media/image1.png" id="240" name="Google Shape;240;p15"/>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241" name="Google Shape;241;p15"/>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5"/>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Measuring Capacity</a:t>
            </a:r>
            <a:endParaRPr sz="2000">
              <a:solidFill>
                <a:schemeClr val="dk1"/>
              </a:solidFill>
              <a:latin typeface="Arial"/>
              <a:ea typeface="Arial"/>
              <a:cs typeface="Arial"/>
              <a:sym typeface="Arial"/>
            </a:endParaRPr>
          </a:p>
        </p:txBody>
      </p:sp>
      <p:sp>
        <p:nvSpPr>
          <p:cNvPr id="243" name="Google Shape;243;p15"/>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How provisioned throughput capacity is measured</a:t>
            </a:r>
            <a:endParaRPr sz="1300">
              <a:solidFill>
                <a:schemeClr val="dk1"/>
              </a:solidFill>
              <a:latin typeface="Calibri"/>
              <a:ea typeface="Calibri"/>
              <a:cs typeface="Calibri"/>
              <a:sym typeface="Calibri"/>
            </a:endParaRPr>
          </a:p>
        </p:txBody>
      </p:sp>
      <p:sp>
        <p:nvSpPr>
          <p:cNvPr id="244" name="Google Shape;244;p15"/>
          <p:cNvSpPr/>
          <p:nvPr/>
        </p:nvSpPr>
        <p:spPr>
          <a:xfrm>
            <a:off x="457200" y="1234440"/>
            <a:ext cx="2606040" cy="237744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15"/>
          <p:cNvSpPr/>
          <p:nvPr/>
        </p:nvSpPr>
        <p:spPr>
          <a:xfrm>
            <a:off x="457200"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5"/>
          <p:cNvSpPr/>
          <p:nvPr/>
        </p:nvSpPr>
        <p:spPr>
          <a:xfrm>
            <a:off x="685800"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TOKENS PER SECOND</a:t>
            </a:r>
            <a:endParaRPr sz="900">
              <a:solidFill>
                <a:schemeClr val="dk1"/>
              </a:solidFill>
              <a:latin typeface="Calibri"/>
              <a:ea typeface="Calibri"/>
              <a:cs typeface="Calibri"/>
              <a:sym typeface="Calibri"/>
            </a:endParaRPr>
          </a:p>
        </p:txBody>
      </p:sp>
      <p:sp>
        <p:nvSpPr>
          <p:cNvPr id="247" name="Google Shape;247;p15"/>
          <p:cNvSpPr/>
          <p:nvPr/>
        </p:nvSpPr>
        <p:spPr>
          <a:xfrm>
            <a:off x="685800" y="1691640"/>
            <a:ext cx="2148840" cy="1783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Combined input + output tokens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More reliable than requests/second</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Varies by request size</a:t>
            </a:r>
            <a:endParaRPr sz="1100">
              <a:solidFill>
                <a:schemeClr val="dk1"/>
              </a:solidFill>
              <a:latin typeface="Calibri"/>
              <a:ea typeface="Calibri"/>
              <a:cs typeface="Calibri"/>
              <a:sym typeface="Calibri"/>
            </a:endParaRPr>
          </a:p>
        </p:txBody>
      </p:sp>
      <p:sp>
        <p:nvSpPr>
          <p:cNvPr id="248" name="Google Shape;248;p15"/>
          <p:cNvSpPr/>
          <p:nvPr/>
        </p:nvSpPr>
        <p:spPr>
          <a:xfrm>
            <a:off x="3264408" y="1234440"/>
            <a:ext cx="2606040" cy="237744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5"/>
          <p:cNvSpPr/>
          <p:nvPr/>
        </p:nvSpPr>
        <p:spPr>
          <a:xfrm>
            <a:off x="3264408"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5"/>
          <p:cNvSpPr/>
          <p:nvPr/>
        </p:nvSpPr>
        <p:spPr>
          <a:xfrm>
            <a:off x="3493008"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EXAMPLE</a:t>
            </a:r>
            <a:endParaRPr sz="900">
              <a:solidFill>
                <a:schemeClr val="dk1"/>
              </a:solidFill>
              <a:latin typeface="Calibri"/>
              <a:ea typeface="Calibri"/>
              <a:cs typeface="Calibri"/>
              <a:sym typeface="Calibri"/>
            </a:endParaRPr>
          </a:p>
        </p:txBody>
      </p:sp>
      <p:sp>
        <p:nvSpPr>
          <p:cNvPr id="251" name="Google Shape;251;p15"/>
          <p:cNvSpPr/>
          <p:nvPr/>
        </p:nvSpPr>
        <p:spPr>
          <a:xfrm>
            <a:off x="3493008" y="1691640"/>
            <a:ext cx="2148840" cy="1783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Request: 2048 input + 256 output = 2304 tokens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2304 TPS = 1 request/second</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4608 TPS = 2 requests/second</a:t>
            </a:r>
            <a:endParaRPr sz="1100">
              <a:solidFill>
                <a:schemeClr val="dk1"/>
              </a:solidFill>
              <a:latin typeface="Calibri"/>
              <a:ea typeface="Calibri"/>
              <a:cs typeface="Calibri"/>
              <a:sym typeface="Calibri"/>
            </a:endParaRPr>
          </a:p>
        </p:txBody>
      </p:sp>
      <p:sp>
        <p:nvSpPr>
          <p:cNvPr id="252" name="Google Shape;252;p15"/>
          <p:cNvSpPr/>
          <p:nvPr/>
        </p:nvSpPr>
        <p:spPr>
          <a:xfrm>
            <a:off x="6071616" y="1234440"/>
            <a:ext cx="2606040" cy="237744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5"/>
          <p:cNvSpPr/>
          <p:nvPr/>
        </p:nvSpPr>
        <p:spPr>
          <a:xfrm>
            <a:off x="6071616"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5"/>
          <p:cNvSpPr/>
          <p:nvPr/>
        </p:nvSpPr>
        <p:spPr>
          <a:xfrm>
            <a:off x="6300216"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MODEL UNITS</a:t>
            </a:r>
            <a:endParaRPr sz="900">
              <a:solidFill>
                <a:schemeClr val="dk1"/>
              </a:solidFill>
              <a:latin typeface="Calibri"/>
              <a:ea typeface="Calibri"/>
              <a:cs typeface="Calibri"/>
              <a:sym typeface="Calibri"/>
            </a:endParaRPr>
          </a:p>
        </p:txBody>
      </p:sp>
      <p:sp>
        <p:nvSpPr>
          <p:cNvPr id="255" name="Google Shape;255;p15"/>
          <p:cNvSpPr/>
          <p:nvPr/>
        </p:nvSpPr>
        <p:spPr>
          <a:xfrm>
            <a:off x="6300216" y="1691640"/>
            <a:ext cx="2148840" cy="1783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Used for some models (e.g., Llama 4 Maverick)</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50 model units ≈ 3250 tokens/second</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Simplifies capacity planning</a:t>
            </a:r>
            <a:endParaRPr sz="1100">
              <a:solidFill>
                <a:schemeClr val="dk1"/>
              </a:solidFill>
              <a:latin typeface="Calibri"/>
              <a:ea typeface="Calibri"/>
              <a:cs typeface="Calibri"/>
              <a:sym typeface="Calibri"/>
            </a:endParaRPr>
          </a:p>
        </p:txBody>
      </p:sp>
      <p:sp>
        <p:nvSpPr>
          <p:cNvPr id="256" name="Google Shape;256;p15"/>
          <p:cNvSpPr/>
          <p:nvPr/>
        </p:nvSpPr>
        <p:spPr>
          <a:xfrm>
            <a:off x="457200" y="3840480"/>
            <a:ext cx="8138160" cy="822960"/>
          </a:xfrm>
          <a:prstGeom prst="rect">
            <a:avLst/>
          </a:prstGeom>
          <a:solidFill>
            <a:srgbClr val="3C3C3C"/>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5"/>
          <p:cNvSpPr/>
          <p:nvPr/>
        </p:nvSpPr>
        <p:spPr>
          <a:xfrm>
            <a:off x="777240" y="3913632"/>
            <a:ext cx="6400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WHY TPS?</a:t>
            </a:r>
            <a:endParaRPr sz="900">
              <a:solidFill>
                <a:schemeClr val="dk1"/>
              </a:solidFill>
              <a:latin typeface="Calibri"/>
              <a:ea typeface="Calibri"/>
              <a:cs typeface="Calibri"/>
              <a:sym typeface="Calibri"/>
            </a:endParaRPr>
          </a:p>
        </p:txBody>
      </p:sp>
      <p:sp>
        <p:nvSpPr>
          <p:cNvPr id="258" name="Google Shape;258;p15"/>
          <p:cNvSpPr/>
          <p:nvPr/>
        </p:nvSpPr>
        <p:spPr>
          <a:xfrm>
            <a:off x="777240" y="4133088"/>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lang="en-US" sz="1400">
                <a:solidFill>
                  <a:srgbClr val="FFFFFF"/>
                </a:solidFill>
                <a:latin typeface="Georgia"/>
                <a:ea typeface="Georgia"/>
                <a:cs typeface="Georgia"/>
                <a:sym typeface="Georgia"/>
              </a:rPr>
              <a:t>LLM requests vary dramatically in size — TPS gives a consistent, predictable metric</a:t>
            </a:r>
            <a:endParaRPr sz="1400">
              <a:solidFill>
                <a:schemeClr val="dk1"/>
              </a:solidFill>
              <a:latin typeface="Calibri"/>
              <a:ea typeface="Calibri"/>
              <a:cs typeface="Calibri"/>
              <a:sym typeface="Calibri"/>
            </a:endParaRPr>
          </a:p>
        </p:txBody>
      </p:sp>
      <p:sp>
        <p:nvSpPr>
          <p:cNvPr id="259" name="Google Shape;259;p15"/>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pic>
        <p:nvPicPr>
          <p:cNvPr descr="/sessions/nifty-pensive-fermi/kickoff_unpacked/ppt/media/image1.png" id="265" name="Google Shape;265;p16"/>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266" name="Google Shape;266;p16"/>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6"/>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External Models</a:t>
            </a:r>
            <a:endParaRPr sz="2000">
              <a:solidFill>
                <a:schemeClr val="dk1"/>
              </a:solidFill>
              <a:latin typeface="Arial"/>
              <a:ea typeface="Arial"/>
              <a:cs typeface="Arial"/>
              <a:sym typeface="Arial"/>
            </a:endParaRPr>
          </a:p>
        </p:txBody>
      </p:sp>
      <p:sp>
        <p:nvSpPr>
          <p:cNvPr id="268" name="Google Shape;268;p16"/>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Hosted outside Databricks, accessed through Mosaic AI Model Serving</a:t>
            </a:r>
            <a:endParaRPr sz="1300">
              <a:solidFill>
                <a:schemeClr val="dk1"/>
              </a:solidFill>
              <a:latin typeface="Calibri"/>
              <a:ea typeface="Calibri"/>
              <a:cs typeface="Calibri"/>
              <a:sym typeface="Calibri"/>
            </a:endParaRPr>
          </a:p>
        </p:txBody>
      </p:sp>
      <p:sp>
        <p:nvSpPr>
          <p:cNvPr id="269" name="Google Shape;269;p16"/>
          <p:cNvSpPr/>
          <p:nvPr/>
        </p:nvSpPr>
        <p:spPr>
          <a:xfrm>
            <a:off x="457200" y="1234440"/>
            <a:ext cx="2606040" cy="256032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6"/>
          <p:cNvSpPr/>
          <p:nvPr/>
        </p:nvSpPr>
        <p:spPr>
          <a:xfrm>
            <a:off x="457200"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6"/>
          <p:cNvSpPr/>
          <p:nvPr/>
        </p:nvSpPr>
        <p:spPr>
          <a:xfrm>
            <a:off x="685800"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SUPPORTED PROVIDERS</a:t>
            </a:r>
            <a:endParaRPr sz="900">
              <a:solidFill>
                <a:schemeClr val="dk1"/>
              </a:solidFill>
              <a:latin typeface="Calibri"/>
              <a:ea typeface="Calibri"/>
              <a:cs typeface="Calibri"/>
              <a:sym typeface="Calibri"/>
            </a:endParaRPr>
          </a:p>
        </p:txBody>
      </p:sp>
      <p:sp>
        <p:nvSpPr>
          <p:cNvPr id="272" name="Google Shape;272;p16"/>
          <p:cNvSpPr/>
          <p:nvPr/>
        </p:nvSpPr>
        <p:spPr>
          <a:xfrm>
            <a:off x="685800" y="1691640"/>
            <a:ext cx="2148840" cy="19659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Azure OpenAI</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AWS Bedrock</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Anthropic</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Custom OpenAI-compatible APIs</a:t>
            </a:r>
            <a:endParaRPr sz="1100">
              <a:solidFill>
                <a:schemeClr val="dk1"/>
              </a:solidFill>
              <a:latin typeface="Calibri"/>
              <a:ea typeface="Calibri"/>
              <a:cs typeface="Calibri"/>
              <a:sym typeface="Calibri"/>
            </a:endParaRPr>
          </a:p>
        </p:txBody>
      </p:sp>
      <p:sp>
        <p:nvSpPr>
          <p:cNvPr id="273" name="Google Shape;273;p16"/>
          <p:cNvSpPr/>
          <p:nvPr/>
        </p:nvSpPr>
        <p:spPr>
          <a:xfrm>
            <a:off x="3264408" y="1234440"/>
            <a:ext cx="2606040" cy="256032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6"/>
          <p:cNvSpPr/>
          <p:nvPr/>
        </p:nvSpPr>
        <p:spPr>
          <a:xfrm>
            <a:off x="3264408"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6"/>
          <p:cNvSpPr/>
          <p:nvPr/>
        </p:nvSpPr>
        <p:spPr>
          <a:xfrm>
            <a:off x="3493008"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WHY USE VIA DATABRICKS</a:t>
            </a:r>
            <a:endParaRPr sz="900">
              <a:solidFill>
                <a:schemeClr val="dk1"/>
              </a:solidFill>
              <a:latin typeface="Calibri"/>
              <a:ea typeface="Calibri"/>
              <a:cs typeface="Calibri"/>
              <a:sym typeface="Calibri"/>
            </a:endParaRPr>
          </a:p>
        </p:txBody>
      </p:sp>
      <p:sp>
        <p:nvSpPr>
          <p:cNvPr id="276" name="Google Shape;276;p16"/>
          <p:cNvSpPr/>
          <p:nvPr/>
        </p:nvSpPr>
        <p:spPr>
          <a:xfrm>
            <a:off x="3493008" y="1691640"/>
            <a:ext cx="2148840" cy="19659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Unified governance and monitoring</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Consistent API interface</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Usage tracking and cost management</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AI Gateway benefits (guardrails, logging)</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No code changes to switch providers</a:t>
            </a:r>
            <a:endParaRPr sz="1100">
              <a:solidFill>
                <a:schemeClr val="dk1"/>
              </a:solidFill>
              <a:latin typeface="Calibri"/>
              <a:ea typeface="Calibri"/>
              <a:cs typeface="Calibri"/>
              <a:sym typeface="Calibri"/>
            </a:endParaRPr>
          </a:p>
        </p:txBody>
      </p:sp>
      <p:sp>
        <p:nvSpPr>
          <p:cNvPr id="277" name="Google Shape;277;p16"/>
          <p:cNvSpPr/>
          <p:nvPr/>
        </p:nvSpPr>
        <p:spPr>
          <a:xfrm>
            <a:off x="6071616" y="1234440"/>
            <a:ext cx="2606040" cy="2560320"/>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6"/>
          <p:cNvSpPr/>
          <p:nvPr/>
        </p:nvSpPr>
        <p:spPr>
          <a:xfrm>
            <a:off x="6071616" y="1234440"/>
            <a:ext cx="2606040" cy="36576"/>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6"/>
          <p:cNvSpPr/>
          <p:nvPr/>
        </p:nvSpPr>
        <p:spPr>
          <a:xfrm>
            <a:off x="6300216" y="1417320"/>
            <a:ext cx="2148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CONFIGURATION</a:t>
            </a:r>
            <a:endParaRPr sz="900">
              <a:solidFill>
                <a:schemeClr val="dk1"/>
              </a:solidFill>
              <a:latin typeface="Calibri"/>
              <a:ea typeface="Calibri"/>
              <a:cs typeface="Calibri"/>
              <a:sym typeface="Calibri"/>
            </a:endParaRPr>
          </a:p>
        </p:txBody>
      </p:sp>
      <p:sp>
        <p:nvSpPr>
          <p:cNvPr id="280" name="Google Shape;280;p16"/>
          <p:cNvSpPr/>
          <p:nvPr/>
        </p:nvSpPr>
        <p:spPr>
          <a:xfrm>
            <a:off x="6300216" y="1691640"/>
            <a:ext cx="2148840" cy="19659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May require firewall rules (AWS)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Custom provider for advanced features</a:t>
            </a:r>
            <a:endParaRPr sz="1100">
              <a:solidFill>
                <a:schemeClr val="dk1"/>
              </a:solidFill>
              <a:latin typeface="Calibri"/>
              <a:ea typeface="Calibri"/>
              <a:cs typeface="Calibri"/>
              <a:sym typeface="Calibri"/>
            </a:endParaRPr>
          </a:p>
          <a:p>
            <a:pPr indent="-342900" lvl="0" marL="342900" marR="0" rtl="0" algn="l">
              <a:spcBef>
                <a:spcPts val="400"/>
              </a:spcBef>
              <a:spcAft>
                <a:spcPts val="0"/>
              </a:spcAft>
              <a:buClr>
                <a:srgbClr val="555555"/>
              </a:buClr>
              <a:buSzPts val="1100"/>
              <a:buFont typeface="Calibri"/>
              <a:buChar char="•"/>
            </a:pPr>
            <a:r>
              <a:rPr lang="en-US" sz="1100">
                <a:solidFill>
                  <a:srgbClr val="555555"/>
                </a:solidFill>
                <a:latin typeface="Calibri"/>
                <a:ea typeface="Calibri"/>
                <a:cs typeface="Calibri"/>
                <a:sym typeface="Calibri"/>
              </a:rPr>
              <a:t>(e.g., image output via base64)</a:t>
            </a:r>
            <a:endParaRPr sz="1100">
              <a:solidFill>
                <a:schemeClr val="dk1"/>
              </a:solidFill>
              <a:latin typeface="Calibri"/>
              <a:ea typeface="Calibri"/>
              <a:cs typeface="Calibri"/>
              <a:sym typeface="Calibri"/>
            </a:endParaRPr>
          </a:p>
        </p:txBody>
      </p:sp>
      <p:sp>
        <p:nvSpPr>
          <p:cNvPr id="281" name="Google Shape;281;p16"/>
          <p:cNvSpPr/>
          <p:nvPr/>
        </p:nvSpPr>
        <p:spPr>
          <a:xfrm>
            <a:off x="457200" y="4023360"/>
            <a:ext cx="8138160" cy="685800"/>
          </a:xfrm>
          <a:prstGeom prst="rect">
            <a:avLst/>
          </a:prstGeom>
          <a:solidFill>
            <a:srgbClr val="3C3C3C"/>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6"/>
          <p:cNvSpPr/>
          <p:nvPr/>
        </p:nvSpPr>
        <p:spPr>
          <a:xfrm>
            <a:off x="777240" y="4069080"/>
            <a:ext cx="6400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900"/>
              <a:buFont typeface="Calibri"/>
              <a:buNone/>
            </a:pPr>
            <a:r>
              <a:rPr b="1" lang="en-US" sz="900">
                <a:solidFill>
                  <a:srgbClr val="F24B37"/>
                </a:solidFill>
                <a:latin typeface="Calibri"/>
                <a:ea typeface="Calibri"/>
                <a:cs typeface="Calibri"/>
                <a:sym typeface="Calibri"/>
              </a:rPr>
              <a:t>GOVERNANCE FIRST</a:t>
            </a:r>
            <a:endParaRPr sz="900">
              <a:solidFill>
                <a:schemeClr val="dk1"/>
              </a:solidFill>
              <a:latin typeface="Calibri"/>
              <a:ea typeface="Calibri"/>
              <a:cs typeface="Calibri"/>
              <a:sym typeface="Calibri"/>
            </a:endParaRPr>
          </a:p>
        </p:txBody>
      </p:sp>
      <p:sp>
        <p:nvSpPr>
          <p:cNvPr id="283" name="Google Shape;283;p16"/>
          <p:cNvSpPr/>
          <p:nvPr/>
        </p:nvSpPr>
        <p:spPr>
          <a:xfrm>
            <a:off x="777240" y="4279392"/>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Georgia"/>
              <a:buNone/>
            </a:pPr>
            <a:r>
              <a:rPr b="1" lang="en-US" sz="1400">
                <a:solidFill>
                  <a:srgbClr val="FFFFFF"/>
                </a:solidFill>
                <a:latin typeface="Georgia"/>
                <a:ea typeface="Georgia"/>
                <a:cs typeface="Georgia"/>
                <a:sym typeface="Georgia"/>
              </a:rPr>
              <a:t>Route through Databricks for unified governance — switch providers without changing code</a:t>
            </a:r>
            <a:endParaRPr sz="1400">
              <a:solidFill>
                <a:schemeClr val="dk1"/>
              </a:solidFill>
              <a:latin typeface="Calibri"/>
              <a:ea typeface="Calibri"/>
              <a:cs typeface="Calibri"/>
              <a:sym typeface="Calibri"/>
            </a:endParaRPr>
          </a:p>
        </p:txBody>
      </p:sp>
      <p:sp>
        <p:nvSpPr>
          <p:cNvPr id="284" name="Google Shape;284;p16"/>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pic>
        <p:nvPicPr>
          <p:cNvPr descr="/sessions/nifty-pensive-fermi/kickoff_unpacked/ppt/media/image1.png" id="290" name="Google Shape;290;p17"/>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291" name="Google Shape;291;p17"/>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7"/>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Databricks Foundation Models</a:t>
            </a:r>
            <a:endParaRPr sz="2000">
              <a:solidFill>
                <a:schemeClr val="dk1"/>
              </a:solidFill>
              <a:latin typeface="Arial"/>
              <a:ea typeface="Arial"/>
              <a:cs typeface="Arial"/>
              <a:sym typeface="Arial"/>
            </a:endParaRPr>
          </a:p>
        </p:txBody>
      </p:sp>
      <p:sp>
        <p:nvSpPr>
          <p:cNvPr id="293" name="Google Shape;293;p17"/>
          <p:cNvSpPr/>
          <p:nvPr/>
        </p:nvSpPr>
        <p:spPr>
          <a:xfrm>
            <a:off x="640080" y="77724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300"/>
              <a:buFont typeface="Calibri"/>
              <a:buNone/>
            </a:pPr>
            <a:r>
              <a:rPr lang="en-US" sz="1300">
                <a:solidFill>
                  <a:srgbClr val="999999"/>
                </a:solidFill>
                <a:latin typeface="Calibri"/>
                <a:ea typeface="Calibri"/>
                <a:cs typeface="Calibri"/>
                <a:sym typeface="Calibri"/>
              </a:rPr>
              <a:t>Comparison of the three hosting options</a:t>
            </a:r>
            <a:endParaRPr sz="1300">
              <a:solidFill>
                <a:schemeClr val="dk1"/>
              </a:solidFill>
              <a:latin typeface="Calibri"/>
              <a:ea typeface="Calibri"/>
              <a:cs typeface="Calibri"/>
              <a:sym typeface="Calibri"/>
            </a:endParaRPr>
          </a:p>
        </p:txBody>
      </p:sp>
      <p:pic>
        <p:nvPicPr>
          <p:cNvPr descr="/sessions/nifty-pensive-fermi/lecture1_unpacked/ppt/media/image4.png" id="294" name="Google Shape;294;p17"/>
          <p:cNvPicPr preferRelativeResize="0"/>
          <p:nvPr/>
        </p:nvPicPr>
        <p:blipFill rotWithShape="1">
          <a:blip r:embed="rId4">
            <a:alphaModFix/>
          </a:blip>
          <a:srcRect b="0" l="0" r="0" t="0"/>
          <a:stretch/>
        </p:blipFill>
        <p:spPr>
          <a:xfrm>
            <a:off x="401700" y="1202000"/>
            <a:ext cx="7533976" cy="3578625"/>
          </a:xfrm>
          <a:prstGeom prst="rect">
            <a:avLst/>
          </a:prstGeom>
          <a:noFill/>
          <a:ln>
            <a:noFill/>
          </a:ln>
        </p:spPr>
      </p:pic>
      <p:sp>
        <p:nvSpPr>
          <p:cNvPr id="295" name="Google Shape;295;p17"/>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0" name="Shape 300"/>
        <p:cNvGrpSpPr/>
        <p:nvPr/>
      </p:nvGrpSpPr>
      <p:grpSpPr>
        <a:xfrm>
          <a:off x="0" y="0"/>
          <a:ext cx="0" cy="0"/>
          <a:chOff x="0" y="0"/>
          <a:chExt cx="0" cy="0"/>
        </a:xfrm>
      </p:grpSpPr>
      <p:pic>
        <p:nvPicPr>
          <p:cNvPr descr="/sessions/nifty-pensive-fermi/kickoff_unpacked/ppt/media/image1.png" id="301" name="Google Shape;301;p18"/>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302" name="Google Shape;302;p18"/>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8"/>
          <p:cNvSpPr/>
          <p:nvPr/>
        </p:nvSpPr>
        <p:spPr>
          <a:xfrm>
            <a:off x="640080" y="228600"/>
            <a:ext cx="265319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What is supported for AI gateway</a:t>
            </a:r>
            <a:endParaRPr sz="2000">
              <a:solidFill>
                <a:schemeClr val="dk1"/>
              </a:solidFill>
              <a:latin typeface="Arial"/>
              <a:ea typeface="Arial"/>
              <a:cs typeface="Arial"/>
              <a:sym typeface="Arial"/>
            </a:endParaRPr>
          </a:p>
        </p:txBody>
      </p:sp>
      <p:sp>
        <p:nvSpPr>
          <p:cNvPr id="304" name="Google Shape;304;p18"/>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pic>
        <p:nvPicPr>
          <p:cNvPr id="305" name="Google Shape;305;p18"/>
          <p:cNvPicPr preferRelativeResize="0"/>
          <p:nvPr/>
        </p:nvPicPr>
        <p:blipFill rotWithShape="1">
          <a:blip r:embed="rId4">
            <a:alphaModFix/>
          </a:blip>
          <a:srcRect b="0" l="0" r="22162" t="0"/>
          <a:stretch/>
        </p:blipFill>
        <p:spPr>
          <a:xfrm>
            <a:off x="3521878" y="0"/>
            <a:ext cx="4376126" cy="5143500"/>
          </a:xfrm>
          <a:prstGeom prst="rect">
            <a:avLst/>
          </a:prstGeom>
          <a:noFill/>
          <a:ln>
            <a:noFill/>
          </a:ln>
        </p:spPr>
      </p:pic>
      <p:sp>
        <p:nvSpPr>
          <p:cNvPr id="306" name="Google Shape;306;p18"/>
          <p:cNvSpPr txBox="1"/>
          <p:nvPr/>
        </p:nvSpPr>
        <p:spPr>
          <a:xfrm>
            <a:off x="873971" y="2259261"/>
            <a:ext cx="228600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u="sng">
                <a:solidFill>
                  <a:schemeClr val="dk1"/>
                </a:solidFill>
                <a:latin typeface="Calibri"/>
                <a:ea typeface="Calibri"/>
                <a:cs typeface="Calibri"/>
                <a:sym typeface="Calibri"/>
                <a:hlinkClick r:id="rId5">
                  <a:extLst>
                    <a:ext uri="{A12FA001-AC4F-418D-AE19-62706E023703}">
                      <ahyp:hlinkClr val="tx"/>
                    </a:ext>
                  </a:extLst>
                </a:hlinkClick>
              </a:rPr>
              <a:t>https://docs.databricks.com/aws/en/ai-gateway/overview-serving-endpoints</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1" name="Shape 311"/>
        <p:cNvGrpSpPr/>
        <p:nvPr/>
      </p:nvGrpSpPr>
      <p:grpSpPr>
        <a:xfrm>
          <a:off x="0" y="0"/>
          <a:ext cx="0" cy="0"/>
          <a:chOff x="0" y="0"/>
          <a:chExt cx="0" cy="0"/>
        </a:xfrm>
      </p:grpSpPr>
      <p:pic>
        <p:nvPicPr>
          <p:cNvPr descr="/sessions/nifty-pensive-fermi/kickoff_unpacked/ppt/media/image1.png" id="312" name="Google Shape;312;p19"/>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313" name="Google Shape;313;p19"/>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9"/>
          <p:cNvSpPr/>
          <p:nvPr/>
        </p:nvSpPr>
        <p:spPr>
          <a:xfrm>
            <a:off x="640080" y="228600"/>
            <a:ext cx="265319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AI gateway: fallbacks</a:t>
            </a:r>
            <a:endParaRPr sz="2000">
              <a:solidFill>
                <a:schemeClr val="dk1"/>
              </a:solidFill>
              <a:latin typeface="Arial"/>
              <a:ea typeface="Arial"/>
              <a:cs typeface="Arial"/>
              <a:sym typeface="Arial"/>
            </a:endParaRPr>
          </a:p>
        </p:txBody>
      </p:sp>
      <p:sp>
        <p:nvSpPr>
          <p:cNvPr id="315" name="Google Shape;315;p19"/>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pic>
        <p:nvPicPr>
          <p:cNvPr id="316" name="Google Shape;316;p19"/>
          <p:cNvPicPr preferRelativeResize="0"/>
          <p:nvPr/>
        </p:nvPicPr>
        <p:blipFill rotWithShape="1">
          <a:blip r:embed="rId4">
            <a:alphaModFix/>
          </a:blip>
          <a:srcRect b="0" l="0" r="0" t="0"/>
          <a:stretch/>
        </p:blipFill>
        <p:spPr>
          <a:xfrm>
            <a:off x="1007347" y="1201995"/>
            <a:ext cx="6167176" cy="33172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pic>
        <p:nvPicPr>
          <p:cNvPr descr="/sessions/nifty-pensive-fermi/kickoff_unpacked/ppt/media/image1.png" id="322" name="Google Shape;322;p20"/>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323" name="Google Shape;323;p20"/>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20"/>
          <p:cNvSpPr/>
          <p:nvPr/>
        </p:nvSpPr>
        <p:spPr>
          <a:xfrm>
            <a:off x="640079" y="228600"/>
            <a:ext cx="3680711"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AI gateway: guardrails</a:t>
            </a:r>
            <a:endParaRPr sz="2000">
              <a:solidFill>
                <a:schemeClr val="dk1"/>
              </a:solidFill>
              <a:latin typeface="Arial"/>
              <a:ea typeface="Arial"/>
              <a:cs typeface="Arial"/>
              <a:sym typeface="Arial"/>
            </a:endParaRPr>
          </a:p>
        </p:txBody>
      </p:sp>
      <p:sp>
        <p:nvSpPr>
          <p:cNvPr id="325" name="Google Shape;325;p20"/>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pic>
        <p:nvPicPr>
          <p:cNvPr id="326" name="Google Shape;326;p20"/>
          <p:cNvPicPr preferRelativeResize="0"/>
          <p:nvPr/>
        </p:nvPicPr>
        <p:blipFill rotWithShape="1">
          <a:blip r:embed="rId4">
            <a:alphaModFix/>
          </a:blip>
          <a:srcRect b="0" l="0" r="0" t="0"/>
          <a:stretch/>
        </p:blipFill>
        <p:spPr>
          <a:xfrm>
            <a:off x="265958" y="775546"/>
            <a:ext cx="6900705" cy="4367954"/>
          </a:xfrm>
          <a:prstGeom prst="rect">
            <a:avLst/>
          </a:prstGeom>
          <a:noFill/>
          <a:ln>
            <a:noFill/>
          </a:ln>
        </p:spPr>
      </p:pic>
      <p:sp>
        <p:nvSpPr>
          <p:cNvPr id="327" name="Google Shape;327;p20"/>
          <p:cNvSpPr txBox="1"/>
          <p:nvPr/>
        </p:nvSpPr>
        <p:spPr>
          <a:xfrm>
            <a:off x="7074040" y="2365534"/>
            <a:ext cx="1939331" cy="1600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u="sng">
                <a:solidFill>
                  <a:schemeClr val="dk1"/>
                </a:solidFill>
                <a:latin typeface="Calibri"/>
                <a:ea typeface="Calibri"/>
                <a:cs typeface="Calibri"/>
                <a:sym typeface="Calibri"/>
                <a:hlinkClick r:id="rId5">
                  <a:extLst>
                    <a:ext uri="{A12FA001-AC4F-418D-AE19-62706E023703}">
                      <ahyp:hlinkClr val="tx"/>
                    </a:ext>
                  </a:extLst>
                </a:hlinkClick>
              </a:rPr>
              <a:t>https://docs.databricks.com/aws/en/ai-gateway/overview-serving-endpoints#define-guardrails</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1"/>
          <p:cNvSpPr/>
          <p:nvPr/>
        </p:nvSpPr>
        <p:spPr>
          <a:xfrm>
            <a:off x="457200" y="1234440"/>
            <a:ext cx="7406036" cy="2533692"/>
          </a:xfrm>
          <a:prstGeom prst="rect">
            <a:avLst/>
          </a:prstGeom>
          <a:solidFill>
            <a:srgbClr val="FFF3ED"/>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essions/nifty-pensive-fermi/kickoff_unpacked/ppt/media/image1.png" id="334" name="Google Shape;334;p21"/>
          <p:cNvPicPr preferRelativeResize="0"/>
          <p:nvPr/>
        </p:nvPicPr>
        <p:blipFill rotWithShape="1">
          <a:blip r:embed="rId3">
            <a:alphaModFix/>
          </a:blip>
          <a:srcRect b="0" l="0" r="0" t="0"/>
          <a:stretch/>
        </p:blipFill>
        <p:spPr>
          <a:xfrm>
            <a:off x="8138160" y="182880"/>
            <a:ext cx="777240" cy="777240"/>
          </a:xfrm>
          <a:prstGeom prst="rect">
            <a:avLst/>
          </a:prstGeom>
          <a:noFill/>
          <a:ln>
            <a:noFill/>
          </a:ln>
        </p:spPr>
      </p:pic>
      <p:sp>
        <p:nvSpPr>
          <p:cNvPr id="335" name="Google Shape;335;p21"/>
          <p:cNvSpPr/>
          <p:nvPr/>
        </p:nvSpPr>
        <p:spPr>
          <a:xfrm>
            <a:off x="457200" y="320040"/>
            <a:ext cx="54864" cy="502920"/>
          </a:xfrm>
          <a:prstGeom prst="rect">
            <a:avLst/>
          </a:prstGeom>
          <a:solidFill>
            <a:srgbClr val="F24B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21"/>
          <p:cNvSpPr/>
          <p:nvPr/>
        </p:nvSpPr>
        <p:spPr>
          <a:xfrm>
            <a:off x="640080" y="228600"/>
            <a:ext cx="68580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2000"/>
              <a:buFont typeface="Arial"/>
              <a:buNone/>
            </a:pPr>
            <a:r>
              <a:rPr b="1" lang="en-US" sz="2000">
                <a:solidFill>
                  <a:srgbClr val="333333"/>
                </a:solidFill>
                <a:latin typeface="Arial"/>
                <a:ea typeface="Arial"/>
                <a:cs typeface="Arial"/>
                <a:sym typeface="Arial"/>
              </a:rPr>
              <a:t>Homework</a:t>
            </a:r>
            <a:endParaRPr sz="2000">
              <a:solidFill>
                <a:schemeClr val="dk1"/>
              </a:solidFill>
              <a:latin typeface="Arial"/>
              <a:ea typeface="Arial"/>
              <a:cs typeface="Arial"/>
              <a:sym typeface="Arial"/>
            </a:endParaRPr>
          </a:p>
        </p:txBody>
      </p:sp>
      <p:sp>
        <p:nvSpPr>
          <p:cNvPr id="337" name="Google Shape;337;p21"/>
          <p:cNvSpPr/>
          <p:nvPr/>
        </p:nvSpPr>
        <p:spPr>
          <a:xfrm>
            <a:off x="8129797" y="962084"/>
            <a:ext cx="74824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33333"/>
              </a:buClr>
              <a:buSzPts val="1350"/>
              <a:buFont typeface="Arial"/>
              <a:buNone/>
            </a:pPr>
            <a:r>
              <a:rPr b="1" lang="en-US" sz="1350">
                <a:solidFill>
                  <a:srgbClr val="333333"/>
                </a:solidFill>
                <a:latin typeface="Arial"/>
                <a:ea typeface="Arial"/>
                <a:cs typeface="Arial"/>
                <a:sym typeface="Arial"/>
              </a:rPr>
              <a:t>CAUCHY</a:t>
            </a:r>
            <a:endParaRPr sz="1350">
              <a:solidFill>
                <a:schemeClr val="dk1"/>
              </a:solidFill>
              <a:latin typeface="Calibri"/>
              <a:ea typeface="Calibri"/>
              <a:cs typeface="Calibri"/>
              <a:sym typeface="Calibri"/>
            </a:endParaRPr>
          </a:p>
        </p:txBody>
      </p:sp>
      <p:sp>
        <p:nvSpPr>
          <p:cNvPr id="338" name="Google Shape;338;p21"/>
          <p:cNvSpPr txBox="1"/>
          <p:nvPr/>
        </p:nvSpPr>
        <p:spPr>
          <a:xfrm>
            <a:off x="954593" y="1736807"/>
            <a:ext cx="5968721" cy="203132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Choose your own use case to work on</a:t>
            </a:r>
            <a:endParaRPr/>
          </a:p>
          <a:p>
            <a:pPr indent="-285750" lvl="0" marL="28575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Preprocess data for your use case in VS code, run data processing notebook on Databricks </a:t>
            </a:r>
            <a:endParaRPr/>
          </a:p>
          <a:p>
            <a:pPr indent="-285750" lvl="0" marL="28575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Experiment with LLM calling</a:t>
            </a:r>
            <a:endParaRPr/>
          </a:p>
          <a:p>
            <a:pPr indent="-285750" lvl="0" marL="28575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Submit PR</a:t>
            </a:r>
            <a:endParaRPr/>
          </a:p>
          <a:p>
            <a:pPr indent="-171450" lvl="0" marL="28575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EB"/>
        </a:solidFill>
      </p:bgPr>
    </p:bg>
    <p:spTree>
      <p:nvGrpSpPr>
        <p:cNvPr id="343" name="Shape 343"/>
        <p:cNvGrpSpPr/>
        <p:nvPr/>
      </p:nvGrpSpPr>
      <p:grpSpPr>
        <a:xfrm>
          <a:off x="0" y="0"/>
          <a:ext cx="0" cy="0"/>
          <a:chOff x="0" y="0"/>
          <a:chExt cx="0" cy="0"/>
        </a:xfrm>
      </p:grpSpPr>
      <p:sp>
        <p:nvSpPr>
          <p:cNvPr id="344" name="Google Shape;344;p22"/>
          <p:cNvSpPr/>
          <p:nvPr/>
        </p:nvSpPr>
        <p:spPr>
          <a:xfrm>
            <a:off x="365760" y="365760"/>
            <a:ext cx="8412480" cy="4411980"/>
          </a:xfrm>
          <a:prstGeom prst="roundRect">
            <a:avLst>
              <a:gd fmla="val 3109" name="adj"/>
            </a:avLst>
          </a:prstGeom>
          <a:solidFill>
            <a:srgbClr val="FFFFFF"/>
          </a:solidFill>
          <a:ln>
            <a:noFill/>
          </a:ln>
          <a:effectLst>
            <a:outerShdw blurRad="50800" rotWithShape="0" algn="bl" dir="8100000" dist="12700">
              <a:srgbClr val="000000">
                <a:alpha val="588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22"/>
          <p:cNvSpPr/>
          <p:nvPr/>
        </p:nvSpPr>
        <p:spPr>
          <a:xfrm>
            <a:off x="822960" y="16459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4B37"/>
              </a:buClr>
              <a:buSzPts val="1200"/>
              <a:buFont typeface="Calibri"/>
              <a:buNone/>
            </a:pPr>
            <a:r>
              <a:rPr b="1" lang="en-US" sz="1200">
                <a:solidFill>
                  <a:srgbClr val="F24B37"/>
                </a:solidFill>
                <a:latin typeface="Calibri"/>
                <a:ea typeface="Calibri"/>
                <a:cs typeface="Calibri"/>
                <a:sym typeface="Calibri"/>
              </a:rPr>
              <a:t>CAUCHY</a:t>
            </a:r>
            <a:endParaRPr sz="1200">
              <a:solidFill>
                <a:schemeClr val="dk1"/>
              </a:solidFill>
              <a:latin typeface="Calibri"/>
              <a:ea typeface="Calibri"/>
              <a:cs typeface="Calibri"/>
              <a:sym typeface="Calibri"/>
            </a:endParaRPr>
          </a:p>
        </p:txBody>
      </p:sp>
      <p:sp>
        <p:nvSpPr>
          <p:cNvPr id="346" name="Google Shape;346;p22"/>
          <p:cNvSpPr/>
          <p:nvPr/>
        </p:nvSpPr>
        <p:spPr>
          <a:xfrm>
            <a:off x="822960" y="2011680"/>
            <a:ext cx="6400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3600"/>
              <a:buFont typeface="Georgia"/>
              <a:buNone/>
            </a:pPr>
            <a:r>
              <a:rPr b="1" lang="en-US" sz="3600">
                <a:solidFill>
                  <a:srgbClr val="333333"/>
                </a:solidFill>
                <a:latin typeface="Georgia"/>
                <a:ea typeface="Georgia"/>
                <a:cs typeface="Georgia"/>
                <a:sym typeface="Georgia"/>
              </a:rPr>
              <a:t>Questions?</a:t>
            </a:r>
            <a:endParaRPr sz="36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2026-03-10T21:57:45Z</dcterms:created>
  <dc:creator>Cauchy</dc:creator>
</cp:coreProperties>
</file>